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61" r:id="rId3"/>
  </p:sldMasterIdLst>
  <p:notesMasterIdLst>
    <p:notesMasterId r:id="rId16"/>
  </p:notesMasterIdLst>
  <p:sldIdLst>
    <p:sldId id="256" r:id="rId4"/>
    <p:sldId id="257" r:id="rId5"/>
    <p:sldId id="27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4" r:id="rId14"/>
    <p:sldId id="266" r:id="rId15"/>
  </p:sldIdLst>
  <p:sldSz cx="12192000" cy="6858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Microsoft YaHei" panose="020B0503020204020204" charset="-122"/>
      <p:regular r:id="rId24"/>
    </p:embeddedFont>
    <p:embeddedFont>
      <p:font typeface="Georgia" panose="02040502050405020303"/>
      <p:regular r:id="rId25"/>
      <p:bold r:id="rId26"/>
      <p:italic r:id="rId27"/>
      <p:boldItalic r:id="rId28"/>
    </p:embeddedFont>
    <p:embeddedFont>
      <p:font typeface="Calibri" panose="020F0502020204030204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050" b="1">
                <a:solidFill>
                  <a:srgbClr val="B8860B"/>
                </a:solidFill>
                <a:latin typeface="Georgia" panose="02040502050405020303"/>
              </a:rPr>
              <a:t>Revenue by Product Category</a:t>
            </a:r>
            <a:endParaRPr sz="1050" b="1">
              <a:solidFill>
                <a:srgbClr val="B8860B"/>
              </a:solidFill>
              <a:latin typeface="Georgia" panose="02040502050405020303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8860B"/>
              </a:solidFill>
            </c:spPr>
          </c:dPt>
          <c:dPt>
            <c:idx val="1"/>
            <c:invertIfNegative val="1"/>
            <c:bubble3D val="0"/>
            <c:spPr>
              <a:solidFill>
                <a:srgbClr val="D4919A"/>
              </a:solidFill>
            </c:spPr>
          </c:dPt>
          <c:dPt>
            <c:idx val="2"/>
            <c:invertIfNegative val="1"/>
            <c:bubble3D val="0"/>
            <c:spPr>
              <a:solidFill>
                <a:srgbClr val="9B8AC4"/>
              </a:solidFill>
            </c:spPr>
          </c:dPt>
          <c:dPt>
            <c:idx val="3"/>
            <c:invertIfNegative val="1"/>
            <c:bubble3D val="0"/>
            <c:spPr>
              <a:solidFill>
                <a:srgbClr val="7BA3C9"/>
              </a:solidFill>
            </c:spPr>
          </c:dPt>
          <c:dPt>
            <c:idx val="4"/>
            <c:invertIfNegative val="1"/>
            <c:bubble3D val="0"/>
            <c:spPr>
              <a:solidFill>
                <a:srgbClr val="6AAF97"/>
              </a:solidFill>
            </c:spPr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Mobiles</c:v>
                </c:pt>
                <c:pt idx="1">
                  <c:v>Laptops</c:v>
                </c:pt>
                <c:pt idx="2">
                  <c:v>TVs</c:v>
                </c:pt>
                <c:pt idx="3">
                  <c:v>Appliances</c:v>
                </c:pt>
                <c:pt idx="4">
                  <c:v>Accessories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310</c:v>
                </c:pt>
                <c:pt idx="2">
                  <c:v>290</c:v>
                </c:pt>
                <c:pt idx="3">
                  <c:v>210</c:v>
                </c:pt>
                <c:pt idx="4">
                  <c:v>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825">
                    <a:solidFill>
                      <a:srgbClr val="5A5651"/>
                    </a:solidFill>
                    <a:latin typeface="Calibri" panose="020F0502020204030204"/>
                  </a:rPr>
                  <a:t>Product Category</a:t>
                </a:r>
                <a:endParaRPr sz="825">
                  <a:solidFill>
                    <a:srgbClr val="5A5651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9525" cap="flat" cmpd="sng" algn="ctr">
            <a:solidFill>
              <a:srgbClr val="000000">
                <a:alpha val="10000"/>
              </a:srgbClr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675" b="0" i="0" u="none" strike="noStrike" kern="1200" baseline="0">
                <a:solidFill>
                  <a:srgbClr val="5A5651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5A5651">
                  <a:alpha val="10000"/>
                </a:srgbClr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825">
                    <a:solidFill>
                      <a:srgbClr val="5A5651"/>
                    </a:solidFill>
                    <a:latin typeface="Calibri" panose="020F0502020204030204"/>
                  </a:rPr>
                  <a:t>Revenue (₹ Lakhs)</a:t>
                </a:r>
                <a:endParaRPr sz="825">
                  <a:solidFill>
                    <a:srgbClr val="5A5651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9525" cap="flat" cmpd="sng" algn="ctr">
            <a:solidFill>
              <a:srgbClr val="000000">
                <a:alpha val="10000"/>
              </a:srgbClr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750" b="0" i="0" u="none" strike="noStrike" kern="1200" baseline="0">
                <a:solidFill>
                  <a:srgbClr val="5A5651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  <c:extLst>
      <c:ext uri="{0b15fc19-7d7d-44ad-8c2d-2c3a37ce22c3}">
        <chartProps xmlns="https://web.wps.cn/et/2018/main" chartId="{fdf2cef3-3c93-4ae4-99e9-c424117511da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050" b="1">
                <a:solidFill>
                  <a:srgbClr val="B8860B"/>
                </a:solidFill>
                <a:latin typeface="Georgia" panose="02040502050405020303"/>
              </a:rPr>
              <a:t>Revenue by Store Type</a:t>
            </a:r>
            <a:endParaRPr sz="1050" b="1">
              <a:solidFill>
                <a:srgbClr val="B8860B"/>
              </a:solidFill>
              <a:latin typeface="Georgia" panose="02040502050405020303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B8860B"/>
              </a:solidFill>
            </c:spPr>
          </c:dPt>
          <c:dPt>
            <c:idx val="1"/>
            <c:bubble3D val="0"/>
            <c:spPr>
              <a:solidFill>
                <a:srgbClr val="D4919A"/>
              </a:solidFill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Mall</c:v>
                </c:pt>
                <c:pt idx="1">
                  <c:v>High Street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750" b="0" i="0" u="none" strike="noStrike" kern="1200" baseline="0">
              <a:solidFill>
                <a:srgbClr val="5A5651"/>
              </a:solidFill>
              <a:latin typeface="Calibri" panose="020F0502020204030204"/>
              <a:ea typeface="+mn-ea"/>
              <a:cs typeface="+mn-cs"/>
            </a:defRPr>
          </a:pPr>
        </a:p>
      </c:txPr>
    </c:legend>
    <c:plotVisOnly val="1"/>
    <c:dispBlanksAs val="gap"/>
    <c:showDLblsOverMax val="1"/>
    <c:extLst>
      <c:ext uri="{0b15fc19-7d7d-44ad-8c2d-2c3a37ce22c3}">
        <chartProps xmlns="https://web.wps.cn/et/2018/main" chartId="{a4e5541e-b52b-47e8-9fa5-b50b9ae2f07c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050" b="1">
                <a:solidFill>
                  <a:srgbClr val="B8860B"/>
                </a:solidFill>
                <a:latin typeface="Georgia" panose="02040502050405020303"/>
              </a:rPr>
              <a:t>Monthly Revenue Trend</a:t>
            </a:r>
            <a:endParaRPr sz="1050" b="1">
              <a:solidFill>
                <a:srgbClr val="B8860B"/>
              </a:solidFill>
              <a:latin typeface="Georgia" panose="02040502050405020303"/>
            </a:endParaRP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spPr>
            <a:solidFill>
              <a:srgbClr val="B8860B">
                <a:alpha val="10000"/>
              </a:srgbClr>
            </a:solidFill>
            <a:ln w="19050">
              <a:solidFill>
                <a:srgbClr val="B8860B"/>
              </a:solidFill>
            </a:ln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110</c:v>
                </c:pt>
                <c:pt idx="2">
                  <c:v>125</c:v>
                </c:pt>
                <c:pt idx="3">
                  <c:v>140</c:v>
                </c:pt>
                <c:pt idx="4">
                  <c:v>135</c:v>
                </c:pt>
                <c:pt idx="5">
                  <c:v>150</c:v>
                </c:pt>
                <c:pt idx="6">
                  <c:v>165</c:v>
                </c:pt>
                <c:pt idx="7">
                  <c:v>170</c:v>
                </c:pt>
                <c:pt idx="8">
                  <c:v>180</c:v>
                </c:pt>
                <c:pt idx="9">
                  <c:v>190</c:v>
                </c:pt>
                <c:pt idx="10">
                  <c:v>205</c:v>
                </c:pt>
                <c:pt idx="11">
                  <c:v>220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825">
                    <a:solidFill>
                      <a:srgbClr val="5A5651"/>
                    </a:solidFill>
                    <a:latin typeface="Calibri" panose="020F0502020204030204"/>
                  </a:rPr>
                  <a:t>Month</a:t>
                </a:r>
                <a:endParaRPr sz="825">
                  <a:solidFill>
                    <a:srgbClr val="5A5651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000000">
                <a:alpha val="10000"/>
              </a:srgbClr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675" b="0" i="0" u="none" strike="noStrike" kern="1200" baseline="0">
                <a:solidFill>
                  <a:srgbClr val="5A5651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5A5651">
                  <a:alpha val="10000"/>
                </a:srgbClr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825">
                    <a:solidFill>
                      <a:srgbClr val="5A5651"/>
                    </a:solidFill>
                    <a:latin typeface="Calibri" panose="020F0502020204030204"/>
                  </a:rPr>
                  <a:t>Revenue (₹ Lakhs)</a:t>
                </a:r>
                <a:endParaRPr sz="825">
                  <a:solidFill>
                    <a:srgbClr val="5A5651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9525" cap="flat" cmpd="sng" algn="ctr">
            <a:solidFill>
              <a:srgbClr val="000000">
                <a:alpha val="10000"/>
              </a:srgbClr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750" b="0" i="0" u="none" strike="noStrike" kern="1200" baseline="0">
                <a:solidFill>
                  <a:srgbClr val="5A5651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  <c:extLst>
      <c:ext uri="{0b15fc19-7d7d-44ad-8c2d-2c3a37ce22c3}">
        <chartProps xmlns="https://web.wps.cn/et/2018/main" chartId="{18cb6f4c-6fb3-405e-b766-43a24edf0e6e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image" Target="../media/image3.png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image" Target="../media/image4.png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image" Target="../media/image5.png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image" Target="../media/image6.png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椭圆 8"/>
          <p:cNvSpPr/>
          <p:nvPr userDrawn="1">
            <p:custDataLst>
              <p:tags r:id="rId3"/>
            </p:custDataLst>
          </p:nvPr>
        </p:nvSpPr>
        <p:spPr>
          <a:xfrm>
            <a:off x="1372418" y="5112231"/>
            <a:ext cx="398124" cy="39812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形 79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498053" y="5242711"/>
            <a:ext cx="159976" cy="135786"/>
          </a:xfrm>
          <a:prstGeom prst="rect">
            <a:avLst/>
          </a:prstGeom>
        </p:spPr>
      </p:pic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 rot="5400000" flipV="1">
            <a:off x="11429928" y="726785"/>
            <a:ext cx="219788" cy="58431"/>
          </a:xfrm>
          <a:custGeom>
            <a:avLst/>
            <a:gdLst>
              <a:gd name="connsiteX0" fmla="*/ 437468 w 504535"/>
              <a:gd name="connsiteY0" fmla="*/ 0 h 134134"/>
              <a:gd name="connsiteX1" fmla="*/ 504535 w 504535"/>
              <a:gd name="connsiteY1" fmla="*/ 67067 h 134134"/>
              <a:gd name="connsiteX2" fmla="*/ 437468 w 504535"/>
              <a:gd name="connsiteY2" fmla="*/ 134134 h 134134"/>
              <a:gd name="connsiteX3" fmla="*/ 370401 w 504535"/>
              <a:gd name="connsiteY3" fmla="*/ 67067 h 134134"/>
              <a:gd name="connsiteX4" fmla="*/ 437468 w 504535"/>
              <a:gd name="connsiteY4" fmla="*/ 0 h 134134"/>
              <a:gd name="connsiteX5" fmla="*/ 252267 w 504535"/>
              <a:gd name="connsiteY5" fmla="*/ 0 h 134134"/>
              <a:gd name="connsiteX6" fmla="*/ 319334 w 504535"/>
              <a:gd name="connsiteY6" fmla="*/ 67067 h 134134"/>
              <a:gd name="connsiteX7" fmla="*/ 252267 w 504535"/>
              <a:gd name="connsiteY7" fmla="*/ 134134 h 134134"/>
              <a:gd name="connsiteX8" fmla="*/ 185200 w 504535"/>
              <a:gd name="connsiteY8" fmla="*/ 67067 h 134134"/>
              <a:gd name="connsiteX9" fmla="*/ 252267 w 504535"/>
              <a:gd name="connsiteY9" fmla="*/ 0 h 134134"/>
              <a:gd name="connsiteX10" fmla="*/ 67067 w 504535"/>
              <a:gd name="connsiteY10" fmla="*/ 0 h 134134"/>
              <a:gd name="connsiteX11" fmla="*/ 134134 w 504535"/>
              <a:gd name="connsiteY11" fmla="*/ 67067 h 134134"/>
              <a:gd name="connsiteX12" fmla="*/ 67067 w 504535"/>
              <a:gd name="connsiteY12" fmla="*/ 134134 h 134134"/>
              <a:gd name="connsiteX13" fmla="*/ 0 w 504535"/>
              <a:gd name="connsiteY13" fmla="*/ 67067 h 134134"/>
              <a:gd name="connsiteX14" fmla="*/ 67067 w 504535"/>
              <a:gd name="connsiteY14" fmla="*/ 0 h 13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04535" h="134134">
                <a:moveTo>
                  <a:pt x="437468" y="0"/>
                </a:moveTo>
                <a:cubicBezTo>
                  <a:pt x="474508" y="0"/>
                  <a:pt x="504535" y="30027"/>
                  <a:pt x="504535" y="67067"/>
                </a:cubicBezTo>
                <a:cubicBezTo>
                  <a:pt x="504535" y="104107"/>
                  <a:pt x="474508" y="134134"/>
                  <a:pt x="437468" y="134134"/>
                </a:cubicBezTo>
                <a:cubicBezTo>
                  <a:pt x="400428" y="134134"/>
                  <a:pt x="370401" y="104107"/>
                  <a:pt x="370401" y="67067"/>
                </a:cubicBezTo>
                <a:cubicBezTo>
                  <a:pt x="370401" y="30027"/>
                  <a:pt x="400428" y="0"/>
                  <a:pt x="437468" y="0"/>
                </a:cubicBezTo>
                <a:close/>
                <a:moveTo>
                  <a:pt x="252267" y="0"/>
                </a:moveTo>
                <a:cubicBezTo>
                  <a:pt x="289307" y="0"/>
                  <a:pt x="319334" y="30027"/>
                  <a:pt x="319334" y="67067"/>
                </a:cubicBezTo>
                <a:cubicBezTo>
                  <a:pt x="319334" y="104107"/>
                  <a:pt x="289307" y="134134"/>
                  <a:pt x="252267" y="134134"/>
                </a:cubicBezTo>
                <a:cubicBezTo>
                  <a:pt x="215227" y="134134"/>
                  <a:pt x="185200" y="104107"/>
                  <a:pt x="185200" y="67067"/>
                </a:cubicBezTo>
                <a:cubicBezTo>
                  <a:pt x="185200" y="30027"/>
                  <a:pt x="215227" y="0"/>
                  <a:pt x="252267" y="0"/>
                </a:cubicBezTo>
                <a:close/>
                <a:moveTo>
                  <a:pt x="67067" y="0"/>
                </a:moveTo>
                <a:cubicBezTo>
                  <a:pt x="104107" y="0"/>
                  <a:pt x="134134" y="30027"/>
                  <a:pt x="134134" y="67067"/>
                </a:cubicBezTo>
                <a:cubicBezTo>
                  <a:pt x="134134" y="104107"/>
                  <a:pt x="104107" y="134134"/>
                  <a:pt x="67067" y="134134"/>
                </a:cubicBezTo>
                <a:cubicBezTo>
                  <a:pt x="30027" y="134134"/>
                  <a:pt x="0" y="104107"/>
                  <a:pt x="0" y="67067"/>
                </a:cubicBezTo>
                <a:cubicBezTo>
                  <a:pt x="0" y="30027"/>
                  <a:pt x="30027" y="0"/>
                  <a:pt x="670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7779158" y="1473343"/>
            <a:ext cx="4412842" cy="5384657"/>
          </a:xfrm>
          <a:custGeom>
            <a:avLst/>
            <a:gdLst>
              <a:gd name="connsiteX0" fmla="*/ 4412842 w 4412842"/>
              <a:gd name="connsiteY0" fmla="*/ 0 h 5384657"/>
              <a:gd name="connsiteX1" fmla="*/ 4412842 w 4412842"/>
              <a:gd name="connsiteY1" fmla="*/ 1850003 h 5384657"/>
              <a:gd name="connsiteX2" fmla="*/ 4412117 w 4412842"/>
              <a:gd name="connsiteY2" fmla="*/ 1850058 h 5384657"/>
              <a:gd name="connsiteX3" fmla="*/ 1845184 w 4412842"/>
              <a:gd name="connsiteY3" fmla="*/ 4694574 h 5384657"/>
              <a:gd name="connsiteX4" fmla="*/ 1903274 w 4412842"/>
              <a:gd name="connsiteY4" fmla="*/ 5270819 h 5384657"/>
              <a:gd name="connsiteX5" fmla="*/ 1932545 w 4412842"/>
              <a:gd name="connsiteY5" fmla="*/ 5384657 h 5384657"/>
              <a:gd name="connsiteX6" fmla="*/ 50857 w 4412842"/>
              <a:gd name="connsiteY6" fmla="*/ 5384657 h 5384657"/>
              <a:gd name="connsiteX7" fmla="*/ 24289 w 4412842"/>
              <a:gd name="connsiteY7" fmla="*/ 5175578 h 5384657"/>
              <a:gd name="connsiteX8" fmla="*/ 0 w 4412842"/>
              <a:gd name="connsiteY8" fmla="*/ 4694574 h 5384657"/>
              <a:gd name="connsiteX9" fmla="*/ 4223458 w 4412842"/>
              <a:gd name="connsiteY9" fmla="*/ 14401 h 538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2842" h="5384657">
                <a:moveTo>
                  <a:pt x="4412842" y="0"/>
                </a:moveTo>
                <a:lnTo>
                  <a:pt x="4412842" y="1850003"/>
                </a:lnTo>
                <a:lnTo>
                  <a:pt x="4412117" y="1850058"/>
                </a:lnTo>
                <a:cubicBezTo>
                  <a:pt x="2970309" y="1996482"/>
                  <a:pt x="1845184" y="3214134"/>
                  <a:pt x="1845184" y="4694574"/>
                </a:cubicBezTo>
                <a:cubicBezTo>
                  <a:pt x="1845184" y="4891966"/>
                  <a:pt x="1865186" y="5084687"/>
                  <a:pt x="1903274" y="5270819"/>
                </a:cubicBezTo>
                <a:lnTo>
                  <a:pt x="1932545" y="5384657"/>
                </a:lnTo>
                <a:lnTo>
                  <a:pt x="50857" y="5384657"/>
                </a:lnTo>
                <a:lnTo>
                  <a:pt x="24289" y="5175578"/>
                </a:lnTo>
                <a:cubicBezTo>
                  <a:pt x="8228" y="5017428"/>
                  <a:pt x="0" y="4856962"/>
                  <a:pt x="0" y="4694574"/>
                </a:cubicBezTo>
                <a:cubicBezTo>
                  <a:pt x="0" y="2258759"/>
                  <a:pt x="1851204" y="255316"/>
                  <a:pt x="4223458" y="144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60916" cy="1258221"/>
          </a:xfrm>
          <a:custGeom>
            <a:avLst/>
            <a:gdLst>
              <a:gd name="connsiteX0" fmla="*/ 916162 w 1457748"/>
              <a:gd name="connsiteY0" fmla="*/ 0 h 1454632"/>
              <a:gd name="connsiteX1" fmla="*/ 1457748 w 1457748"/>
              <a:gd name="connsiteY1" fmla="*/ 0 h 1454632"/>
              <a:gd name="connsiteX2" fmla="*/ 1450387 w 1457748"/>
              <a:gd name="connsiteY2" fmla="*/ 145781 h 1454632"/>
              <a:gd name="connsiteX3" fmla="*/ 0 w 1457748"/>
              <a:gd name="connsiteY3" fmla="*/ 1454632 h 1454632"/>
              <a:gd name="connsiteX4" fmla="*/ 0 w 1457748"/>
              <a:gd name="connsiteY4" fmla="*/ 913046 h 1454632"/>
              <a:gd name="connsiteX5" fmla="*/ 911597 w 1457748"/>
              <a:gd name="connsiteY5" fmla="*/ 90407 h 145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7748" h="1454632">
                <a:moveTo>
                  <a:pt x="916162" y="0"/>
                </a:moveTo>
                <a:lnTo>
                  <a:pt x="1457748" y="0"/>
                </a:lnTo>
                <a:lnTo>
                  <a:pt x="1450387" y="145781"/>
                </a:lnTo>
                <a:cubicBezTo>
                  <a:pt x="1375727" y="880944"/>
                  <a:pt x="754860" y="1454632"/>
                  <a:pt x="0" y="1454632"/>
                </a:cubicBezTo>
                <a:lnTo>
                  <a:pt x="0" y="913046"/>
                </a:lnTo>
                <a:cubicBezTo>
                  <a:pt x="474444" y="913046"/>
                  <a:pt x="864672" y="552471"/>
                  <a:pt x="911597" y="9040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/>
          <a:srcRect l="15079" t="17171" r="45790" b="7436"/>
          <a:stretch>
            <a:fillRect/>
          </a:stretch>
        </p:blipFill>
        <p:spPr>
          <a:xfrm>
            <a:off x="7287854" y="1282190"/>
            <a:ext cx="3773318" cy="4545898"/>
          </a:xfrm>
          <a:prstGeom prst="rect">
            <a:avLst/>
          </a:prstGeom>
          <a:effectLst/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1239765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>
                    <a:alpha val="7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16"/>
            </p:custDataLst>
          </p:nvPr>
        </p:nvSpPr>
        <p:spPr>
          <a:xfrm>
            <a:off x="8473800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alpha val="7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239520" y="1056005"/>
            <a:ext cx="6090285" cy="292608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239520" y="4154170"/>
            <a:ext cx="6000750" cy="69469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1878619" y="5058604"/>
            <a:ext cx="2880000" cy="504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76000">
                <a:schemeClr val="accent1"/>
              </a:gs>
            </a:gsLst>
            <a:lin ang="10800000" scaled="0"/>
          </a:gradFill>
        </p:spPr>
        <p:txBody>
          <a:bodyPr wrap="square" anchor="ctr">
            <a:normAutofit/>
          </a:bodyPr>
          <a:lstStyle>
            <a:lvl1pPr marL="360045" indent="0" algn="l" eaLnBrk="1" fontAlgn="auto" latinLnBrk="0" hangingPunct="1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8000">
                <a:schemeClr val="bg1"/>
              </a:gs>
              <a:gs pos="98165">
                <a:schemeClr val="accent1">
                  <a:lumMod val="40000"/>
                  <a:lumOff val="60000"/>
                </a:schemeClr>
              </a:gs>
              <a:gs pos="55000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/>
          <p:cNvSpPr/>
          <p:nvPr userDrawn="1">
            <p:custDataLst>
              <p:tags r:id="rId3"/>
            </p:custDataLst>
          </p:nvPr>
        </p:nvSpPr>
        <p:spPr>
          <a:xfrm flipH="1">
            <a:off x="0" y="6326116"/>
            <a:ext cx="12191999" cy="5318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任意多边形: 形状 5"/>
          <p:cNvSpPr/>
          <p:nvPr userDrawn="1">
            <p:custDataLst>
              <p:tags r:id="rId4"/>
            </p:custDataLst>
          </p:nvPr>
        </p:nvSpPr>
        <p:spPr>
          <a:xfrm flipV="1">
            <a:off x="831531" y="6561763"/>
            <a:ext cx="337088" cy="89616"/>
          </a:xfrm>
          <a:custGeom>
            <a:avLst/>
            <a:gdLst>
              <a:gd name="connsiteX0" fmla="*/ 437468 w 504535"/>
              <a:gd name="connsiteY0" fmla="*/ 0 h 134134"/>
              <a:gd name="connsiteX1" fmla="*/ 504535 w 504535"/>
              <a:gd name="connsiteY1" fmla="*/ 67067 h 134134"/>
              <a:gd name="connsiteX2" fmla="*/ 437468 w 504535"/>
              <a:gd name="connsiteY2" fmla="*/ 134134 h 134134"/>
              <a:gd name="connsiteX3" fmla="*/ 370401 w 504535"/>
              <a:gd name="connsiteY3" fmla="*/ 67067 h 134134"/>
              <a:gd name="connsiteX4" fmla="*/ 437468 w 504535"/>
              <a:gd name="connsiteY4" fmla="*/ 0 h 134134"/>
              <a:gd name="connsiteX5" fmla="*/ 252267 w 504535"/>
              <a:gd name="connsiteY5" fmla="*/ 0 h 134134"/>
              <a:gd name="connsiteX6" fmla="*/ 319334 w 504535"/>
              <a:gd name="connsiteY6" fmla="*/ 67067 h 134134"/>
              <a:gd name="connsiteX7" fmla="*/ 252267 w 504535"/>
              <a:gd name="connsiteY7" fmla="*/ 134134 h 134134"/>
              <a:gd name="connsiteX8" fmla="*/ 185200 w 504535"/>
              <a:gd name="connsiteY8" fmla="*/ 67067 h 134134"/>
              <a:gd name="connsiteX9" fmla="*/ 252267 w 504535"/>
              <a:gd name="connsiteY9" fmla="*/ 0 h 134134"/>
              <a:gd name="connsiteX10" fmla="*/ 67067 w 504535"/>
              <a:gd name="connsiteY10" fmla="*/ 0 h 134134"/>
              <a:gd name="connsiteX11" fmla="*/ 134134 w 504535"/>
              <a:gd name="connsiteY11" fmla="*/ 67067 h 134134"/>
              <a:gd name="connsiteX12" fmla="*/ 67067 w 504535"/>
              <a:gd name="connsiteY12" fmla="*/ 134134 h 134134"/>
              <a:gd name="connsiteX13" fmla="*/ 0 w 504535"/>
              <a:gd name="connsiteY13" fmla="*/ 67067 h 134134"/>
              <a:gd name="connsiteX14" fmla="*/ 67067 w 504535"/>
              <a:gd name="connsiteY14" fmla="*/ 0 h 13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04535" h="134134">
                <a:moveTo>
                  <a:pt x="437468" y="0"/>
                </a:moveTo>
                <a:cubicBezTo>
                  <a:pt x="474508" y="0"/>
                  <a:pt x="504535" y="30027"/>
                  <a:pt x="504535" y="67067"/>
                </a:cubicBezTo>
                <a:cubicBezTo>
                  <a:pt x="504535" y="104107"/>
                  <a:pt x="474508" y="134134"/>
                  <a:pt x="437468" y="134134"/>
                </a:cubicBezTo>
                <a:cubicBezTo>
                  <a:pt x="400428" y="134134"/>
                  <a:pt x="370401" y="104107"/>
                  <a:pt x="370401" y="67067"/>
                </a:cubicBezTo>
                <a:cubicBezTo>
                  <a:pt x="370401" y="30027"/>
                  <a:pt x="400428" y="0"/>
                  <a:pt x="437468" y="0"/>
                </a:cubicBezTo>
                <a:close/>
                <a:moveTo>
                  <a:pt x="252267" y="0"/>
                </a:moveTo>
                <a:cubicBezTo>
                  <a:pt x="289307" y="0"/>
                  <a:pt x="319334" y="30027"/>
                  <a:pt x="319334" y="67067"/>
                </a:cubicBezTo>
                <a:cubicBezTo>
                  <a:pt x="319334" y="104107"/>
                  <a:pt x="289307" y="134134"/>
                  <a:pt x="252267" y="134134"/>
                </a:cubicBezTo>
                <a:cubicBezTo>
                  <a:pt x="215227" y="134134"/>
                  <a:pt x="185200" y="104107"/>
                  <a:pt x="185200" y="67067"/>
                </a:cubicBezTo>
                <a:cubicBezTo>
                  <a:pt x="185200" y="30027"/>
                  <a:pt x="215227" y="0"/>
                  <a:pt x="252267" y="0"/>
                </a:cubicBezTo>
                <a:close/>
                <a:moveTo>
                  <a:pt x="67067" y="0"/>
                </a:moveTo>
                <a:cubicBezTo>
                  <a:pt x="104107" y="0"/>
                  <a:pt x="134134" y="30027"/>
                  <a:pt x="134134" y="67067"/>
                </a:cubicBezTo>
                <a:cubicBezTo>
                  <a:pt x="134134" y="104107"/>
                  <a:pt x="104107" y="134134"/>
                  <a:pt x="67067" y="134134"/>
                </a:cubicBezTo>
                <a:cubicBezTo>
                  <a:pt x="30027" y="134134"/>
                  <a:pt x="0" y="104107"/>
                  <a:pt x="0" y="67067"/>
                </a:cubicBezTo>
                <a:cubicBezTo>
                  <a:pt x="0" y="30027"/>
                  <a:pt x="30027" y="0"/>
                  <a:pt x="670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5"/>
            </p:custDataLst>
          </p:nvPr>
        </p:nvSpPr>
        <p:spPr>
          <a:xfrm flipH="1">
            <a:off x="10572372" y="0"/>
            <a:ext cx="1619628" cy="1616166"/>
          </a:xfrm>
          <a:custGeom>
            <a:avLst/>
            <a:gdLst>
              <a:gd name="connsiteX0" fmla="*/ 916162 w 1457748"/>
              <a:gd name="connsiteY0" fmla="*/ 0 h 1454632"/>
              <a:gd name="connsiteX1" fmla="*/ 1457748 w 1457748"/>
              <a:gd name="connsiteY1" fmla="*/ 0 h 1454632"/>
              <a:gd name="connsiteX2" fmla="*/ 1450387 w 1457748"/>
              <a:gd name="connsiteY2" fmla="*/ 145781 h 1454632"/>
              <a:gd name="connsiteX3" fmla="*/ 0 w 1457748"/>
              <a:gd name="connsiteY3" fmla="*/ 1454632 h 1454632"/>
              <a:gd name="connsiteX4" fmla="*/ 0 w 1457748"/>
              <a:gd name="connsiteY4" fmla="*/ 913046 h 1454632"/>
              <a:gd name="connsiteX5" fmla="*/ 911597 w 1457748"/>
              <a:gd name="connsiteY5" fmla="*/ 90407 h 145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7748" h="1454632">
                <a:moveTo>
                  <a:pt x="916162" y="0"/>
                </a:moveTo>
                <a:lnTo>
                  <a:pt x="1457748" y="0"/>
                </a:lnTo>
                <a:lnTo>
                  <a:pt x="1450387" y="145781"/>
                </a:lnTo>
                <a:cubicBezTo>
                  <a:pt x="1375727" y="880944"/>
                  <a:pt x="754860" y="1454632"/>
                  <a:pt x="0" y="1454632"/>
                </a:cubicBezTo>
                <a:lnTo>
                  <a:pt x="0" y="913046"/>
                </a:lnTo>
                <a:cubicBezTo>
                  <a:pt x="474444" y="913046"/>
                  <a:pt x="864672" y="552471"/>
                  <a:pt x="911597" y="9040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  <a:lumMod val="50000"/>
                  <a:lumOff val="5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 l="9710" r="14517" b="15557"/>
          <a:stretch>
            <a:fillRect/>
          </a:stretch>
        </p:blipFill>
        <p:spPr>
          <a:xfrm>
            <a:off x="9437348" y="132972"/>
            <a:ext cx="2164821" cy="150853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840105" y="565150"/>
            <a:ext cx="6647815" cy="1081405"/>
          </a:xfrm>
        </p:spPr>
        <p:txBody>
          <a:bodyPr wrap="square" anchor="b">
            <a:norm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3"/>
            </p:custDataLst>
          </p:nvPr>
        </p:nvSpPr>
        <p:spPr>
          <a:xfrm flipH="1" flipV="1">
            <a:off x="0" y="0"/>
            <a:ext cx="4412842" cy="5384657"/>
          </a:xfrm>
          <a:custGeom>
            <a:avLst/>
            <a:gdLst>
              <a:gd name="connsiteX0" fmla="*/ 4412842 w 4412842"/>
              <a:gd name="connsiteY0" fmla="*/ 0 h 5384657"/>
              <a:gd name="connsiteX1" fmla="*/ 4412842 w 4412842"/>
              <a:gd name="connsiteY1" fmla="*/ 1850003 h 5384657"/>
              <a:gd name="connsiteX2" fmla="*/ 4412117 w 4412842"/>
              <a:gd name="connsiteY2" fmla="*/ 1850058 h 5384657"/>
              <a:gd name="connsiteX3" fmla="*/ 1845184 w 4412842"/>
              <a:gd name="connsiteY3" fmla="*/ 4694574 h 5384657"/>
              <a:gd name="connsiteX4" fmla="*/ 1903274 w 4412842"/>
              <a:gd name="connsiteY4" fmla="*/ 5270819 h 5384657"/>
              <a:gd name="connsiteX5" fmla="*/ 1932545 w 4412842"/>
              <a:gd name="connsiteY5" fmla="*/ 5384657 h 5384657"/>
              <a:gd name="connsiteX6" fmla="*/ 50857 w 4412842"/>
              <a:gd name="connsiteY6" fmla="*/ 5384657 h 5384657"/>
              <a:gd name="connsiteX7" fmla="*/ 24289 w 4412842"/>
              <a:gd name="connsiteY7" fmla="*/ 5175578 h 5384657"/>
              <a:gd name="connsiteX8" fmla="*/ 0 w 4412842"/>
              <a:gd name="connsiteY8" fmla="*/ 4694574 h 5384657"/>
              <a:gd name="connsiteX9" fmla="*/ 4223458 w 4412842"/>
              <a:gd name="connsiteY9" fmla="*/ 14401 h 538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2842" h="5384657">
                <a:moveTo>
                  <a:pt x="4412842" y="0"/>
                </a:moveTo>
                <a:lnTo>
                  <a:pt x="4412842" y="1850003"/>
                </a:lnTo>
                <a:lnTo>
                  <a:pt x="4412117" y="1850058"/>
                </a:lnTo>
                <a:cubicBezTo>
                  <a:pt x="2970309" y="1996482"/>
                  <a:pt x="1845184" y="3214134"/>
                  <a:pt x="1845184" y="4694574"/>
                </a:cubicBezTo>
                <a:cubicBezTo>
                  <a:pt x="1845184" y="4891966"/>
                  <a:pt x="1865186" y="5084687"/>
                  <a:pt x="1903274" y="5270819"/>
                </a:cubicBezTo>
                <a:lnTo>
                  <a:pt x="1932545" y="5384657"/>
                </a:lnTo>
                <a:lnTo>
                  <a:pt x="50857" y="5384657"/>
                </a:lnTo>
                <a:lnTo>
                  <a:pt x="24289" y="5175578"/>
                </a:lnTo>
                <a:cubicBezTo>
                  <a:pt x="8228" y="5017428"/>
                  <a:pt x="0" y="4856962"/>
                  <a:pt x="0" y="4694574"/>
                </a:cubicBezTo>
                <a:cubicBezTo>
                  <a:pt x="0" y="2258759"/>
                  <a:pt x="1851204" y="255316"/>
                  <a:pt x="4223458" y="144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1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/>
          <a:srcRect l="21302" t="13702" r="16670"/>
          <a:stretch>
            <a:fillRect/>
          </a:stretch>
        </p:blipFill>
        <p:spPr>
          <a:xfrm>
            <a:off x="642578" y="1292489"/>
            <a:ext cx="5021039" cy="4367996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>
            <p:custDataLst>
              <p:tags r:id="rId6"/>
            </p:custDataLst>
          </p:nvPr>
        </p:nvSpPr>
        <p:spPr>
          <a:xfrm rot="5400000" flipH="1">
            <a:off x="10917826" y="5583826"/>
            <a:ext cx="1260916" cy="1258221"/>
          </a:xfrm>
          <a:custGeom>
            <a:avLst/>
            <a:gdLst>
              <a:gd name="connsiteX0" fmla="*/ 916162 w 1457748"/>
              <a:gd name="connsiteY0" fmla="*/ 0 h 1454632"/>
              <a:gd name="connsiteX1" fmla="*/ 1457748 w 1457748"/>
              <a:gd name="connsiteY1" fmla="*/ 0 h 1454632"/>
              <a:gd name="connsiteX2" fmla="*/ 1450387 w 1457748"/>
              <a:gd name="connsiteY2" fmla="*/ 145781 h 1454632"/>
              <a:gd name="connsiteX3" fmla="*/ 0 w 1457748"/>
              <a:gd name="connsiteY3" fmla="*/ 1454632 h 1454632"/>
              <a:gd name="connsiteX4" fmla="*/ 0 w 1457748"/>
              <a:gd name="connsiteY4" fmla="*/ 913046 h 1454632"/>
              <a:gd name="connsiteX5" fmla="*/ 911597 w 1457748"/>
              <a:gd name="connsiteY5" fmla="*/ 90407 h 145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7748" h="1454632">
                <a:moveTo>
                  <a:pt x="916162" y="0"/>
                </a:moveTo>
                <a:lnTo>
                  <a:pt x="1457748" y="0"/>
                </a:lnTo>
                <a:lnTo>
                  <a:pt x="1450387" y="145781"/>
                </a:lnTo>
                <a:cubicBezTo>
                  <a:pt x="1375727" y="880944"/>
                  <a:pt x="754860" y="1454632"/>
                  <a:pt x="0" y="1454632"/>
                </a:cubicBezTo>
                <a:lnTo>
                  <a:pt x="0" y="913046"/>
                </a:lnTo>
                <a:cubicBezTo>
                  <a:pt x="474444" y="913046"/>
                  <a:pt x="864672" y="552471"/>
                  <a:pt x="911597" y="90407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7"/>
            </p:custDataLst>
          </p:nvPr>
        </p:nvSpPr>
        <p:spPr>
          <a:xfrm rot="10800000" flipV="1">
            <a:off x="10415489" y="903272"/>
            <a:ext cx="337088" cy="89616"/>
          </a:xfrm>
          <a:custGeom>
            <a:avLst/>
            <a:gdLst>
              <a:gd name="connsiteX0" fmla="*/ 437468 w 504535"/>
              <a:gd name="connsiteY0" fmla="*/ 0 h 134134"/>
              <a:gd name="connsiteX1" fmla="*/ 504535 w 504535"/>
              <a:gd name="connsiteY1" fmla="*/ 67067 h 134134"/>
              <a:gd name="connsiteX2" fmla="*/ 437468 w 504535"/>
              <a:gd name="connsiteY2" fmla="*/ 134134 h 134134"/>
              <a:gd name="connsiteX3" fmla="*/ 370401 w 504535"/>
              <a:gd name="connsiteY3" fmla="*/ 67067 h 134134"/>
              <a:gd name="connsiteX4" fmla="*/ 437468 w 504535"/>
              <a:gd name="connsiteY4" fmla="*/ 0 h 134134"/>
              <a:gd name="connsiteX5" fmla="*/ 252267 w 504535"/>
              <a:gd name="connsiteY5" fmla="*/ 0 h 134134"/>
              <a:gd name="connsiteX6" fmla="*/ 319334 w 504535"/>
              <a:gd name="connsiteY6" fmla="*/ 67067 h 134134"/>
              <a:gd name="connsiteX7" fmla="*/ 252267 w 504535"/>
              <a:gd name="connsiteY7" fmla="*/ 134134 h 134134"/>
              <a:gd name="connsiteX8" fmla="*/ 185200 w 504535"/>
              <a:gd name="connsiteY8" fmla="*/ 67067 h 134134"/>
              <a:gd name="connsiteX9" fmla="*/ 252267 w 504535"/>
              <a:gd name="connsiteY9" fmla="*/ 0 h 134134"/>
              <a:gd name="connsiteX10" fmla="*/ 67067 w 504535"/>
              <a:gd name="connsiteY10" fmla="*/ 0 h 134134"/>
              <a:gd name="connsiteX11" fmla="*/ 134134 w 504535"/>
              <a:gd name="connsiteY11" fmla="*/ 67067 h 134134"/>
              <a:gd name="connsiteX12" fmla="*/ 67067 w 504535"/>
              <a:gd name="connsiteY12" fmla="*/ 134134 h 134134"/>
              <a:gd name="connsiteX13" fmla="*/ 0 w 504535"/>
              <a:gd name="connsiteY13" fmla="*/ 67067 h 134134"/>
              <a:gd name="connsiteX14" fmla="*/ 67067 w 504535"/>
              <a:gd name="connsiteY14" fmla="*/ 0 h 13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04535" h="134134">
                <a:moveTo>
                  <a:pt x="437468" y="0"/>
                </a:moveTo>
                <a:cubicBezTo>
                  <a:pt x="474508" y="0"/>
                  <a:pt x="504535" y="30027"/>
                  <a:pt x="504535" y="67067"/>
                </a:cubicBezTo>
                <a:cubicBezTo>
                  <a:pt x="504535" y="104107"/>
                  <a:pt x="474508" y="134134"/>
                  <a:pt x="437468" y="134134"/>
                </a:cubicBezTo>
                <a:cubicBezTo>
                  <a:pt x="400428" y="134134"/>
                  <a:pt x="370401" y="104107"/>
                  <a:pt x="370401" y="67067"/>
                </a:cubicBezTo>
                <a:cubicBezTo>
                  <a:pt x="370401" y="30027"/>
                  <a:pt x="400428" y="0"/>
                  <a:pt x="437468" y="0"/>
                </a:cubicBezTo>
                <a:close/>
                <a:moveTo>
                  <a:pt x="252267" y="0"/>
                </a:moveTo>
                <a:cubicBezTo>
                  <a:pt x="289307" y="0"/>
                  <a:pt x="319334" y="30027"/>
                  <a:pt x="319334" y="67067"/>
                </a:cubicBezTo>
                <a:cubicBezTo>
                  <a:pt x="319334" y="104107"/>
                  <a:pt x="289307" y="134134"/>
                  <a:pt x="252267" y="134134"/>
                </a:cubicBezTo>
                <a:cubicBezTo>
                  <a:pt x="215227" y="134134"/>
                  <a:pt x="185200" y="104107"/>
                  <a:pt x="185200" y="67067"/>
                </a:cubicBezTo>
                <a:cubicBezTo>
                  <a:pt x="185200" y="30027"/>
                  <a:pt x="215227" y="0"/>
                  <a:pt x="252267" y="0"/>
                </a:cubicBezTo>
                <a:close/>
                <a:moveTo>
                  <a:pt x="67067" y="0"/>
                </a:moveTo>
                <a:cubicBezTo>
                  <a:pt x="104107" y="0"/>
                  <a:pt x="134134" y="30027"/>
                  <a:pt x="134134" y="67067"/>
                </a:cubicBezTo>
                <a:cubicBezTo>
                  <a:pt x="134134" y="104107"/>
                  <a:pt x="104107" y="134134"/>
                  <a:pt x="67067" y="134134"/>
                </a:cubicBezTo>
                <a:cubicBezTo>
                  <a:pt x="30027" y="134134"/>
                  <a:pt x="0" y="104107"/>
                  <a:pt x="0" y="67067"/>
                </a:cubicBezTo>
                <a:cubicBezTo>
                  <a:pt x="0" y="30027"/>
                  <a:pt x="30027" y="0"/>
                  <a:pt x="670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9" name="直接连接符 8"/>
          <p:cNvCxnSpPr/>
          <p:nvPr userDrawn="1">
            <p:custDataLst>
              <p:tags r:id="rId8"/>
            </p:custDataLst>
          </p:nvPr>
        </p:nvCxnSpPr>
        <p:spPr>
          <a:xfrm>
            <a:off x="1320800" y="6331744"/>
            <a:ext cx="9563100" cy="0"/>
          </a:xfrm>
          <a:prstGeom prst="line">
            <a:avLst/>
          </a:prstGeom>
          <a:ln w="19050">
            <a:solidFill>
              <a:schemeClr val="bg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116830" y="3383280"/>
            <a:ext cx="5653405" cy="2165350"/>
          </a:xfrm>
        </p:spPr>
        <p:txBody>
          <a:bodyPr wrap="square" anchor="t" anchorCtr="0">
            <a:normAutofit/>
          </a:bodyPr>
          <a:lstStyle>
            <a:lvl1pPr algn="r">
              <a:defRPr sz="4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5663618" y="1506212"/>
            <a:ext cx="5106563" cy="1740519"/>
          </a:xfrm>
          <a:noFill/>
        </p:spPr>
        <p:txBody>
          <a:bodyPr wrap="none" lIns="0" tIns="0" rIns="0" bIns="0" rtlCol="0" anchor="b" anchorCtr="0">
            <a:normAutofit/>
          </a:bodyPr>
          <a:lstStyle>
            <a:lvl1pPr marL="0" indent="0" algn="r">
              <a:buNone/>
              <a:defRPr lang="en-US" sz="8800" b="1" dirty="0">
                <a:gradFill flip="none" rotWithShape="1">
                  <a:gsLst>
                    <a:gs pos="28000">
                      <a:schemeClr val="accent1"/>
                    </a:gs>
                    <a:gs pos="75000">
                      <a:schemeClr val="accent1">
                        <a:lumMod val="75000"/>
                      </a:schemeClr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marL="0" lvl="0" algn="r">
              <a:lnSpc>
                <a:spcPct val="100000"/>
              </a:lnSpc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595" y="360045"/>
            <a:ext cx="1079944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595" y="360045"/>
            <a:ext cx="1079817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6511813" y="0"/>
            <a:ext cx="5680187" cy="6858000"/>
          </a:xfrm>
          <a:custGeom>
            <a:avLst/>
            <a:gdLst>
              <a:gd name="connsiteX0" fmla="*/ 4412842 w 4412842"/>
              <a:gd name="connsiteY0" fmla="*/ 0 h 5384657"/>
              <a:gd name="connsiteX1" fmla="*/ 4412842 w 4412842"/>
              <a:gd name="connsiteY1" fmla="*/ 1850003 h 5384657"/>
              <a:gd name="connsiteX2" fmla="*/ 4412117 w 4412842"/>
              <a:gd name="connsiteY2" fmla="*/ 1850058 h 5384657"/>
              <a:gd name="connsiteX3" fmla="*/ 1845184 w 4412842"/>
              <a:gd name="connsiteY3" fmla="*/ 4694574 h 5384657"/>
              <a:gd name="connsiteX4" fmla="*/ 1903274 w 4412842"/>
              <a:gd name="connsiteY4" fmla="*/ 5270819 h 5384657"/>
              <a:gd name="connsiteX5" fmla="*/ 1932545 w 4412842"/>
              <a:gd name="connsiteY5" fmla="*/ 5384657 h 5384657"/>
              <a:gd name="connsiteX6" fmla="*/ 50857 w 4412842"/>
              <a:gd name="connsiteY6" fmla="*/ 5384657 h 5384657"/>
              <a:gd name="connsiteX7" fmla="*/ 24289 w 4412842"/>
              <a:gd name="connsiteY7" fmla="*/ 5175578 h 5384657"/>
              <a:gd name="connsiteX8" fmla="*/ 0 w 4412842"/>
              <a:gd name="connsiteY8" fmla="*/ 4694574 h 5384657"/>
              <a:gd name="connsiteX9" fmla="*/ 4223458 w 4412842"/>
              <a:gd name="connsiteY9" fmla="*/ 14401 h 538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2842" h="5384657">
                <a:moveTo>
                  <a:pt x="4412842" y="0"/>
                </a:moveTo>
                <a:lnTo>
                  <a:pt x="4412842" y="1850003"/>
                </a:lnTo>
                <a:lnTo>
                  <a:pt x="4412117" y="1850058"/>
                </a:lnTo>
                <a:cubicBezTo>
                  <a:pt x="2970309" y="1996482"/>
                  <a:pt x="1845184" y="3214134"/>
                  <a:pt x="1845184" y="4694574"/>
                </a:cubicBezTo>
                <a:cubicBezTo>
                  <a:pt x="1845184" y="4891966"/>
                  <a:pt x="1865186" y="5084687"/>
                  <a:pt x="1903274" y="5270819"/>
                </a:cubicBezTo>
                <a:lnTo>
                  <a:pt x="1932545" y="5384657"/>
                </a:lnTo>
                <a:lnTo>
                  <a:pt x="50857" y="5384657"/>
                </a:lnTo>
                <a:lnTo>
                  <a:pt x="24289" y="5175578"/>
                </a:lnTo>
                <a:cubicBezTo>
                  <a:pt x="8228" y="5017428"/>
                  <a:pt x="0" y="4856962"/>
                  <a:pt x="0" y="4694574"/>
                </a:cubicBezTo>
                <a:cubicBezTo>
                  <a:pt x="0" y="2258759"/>
                  <a:pt x="1851204" y="255316"/>
                  <a:pt x="4223458" y="14401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60916" cy="1258221"/>
          </a:xfrm>
          <a:custGeom>
            <a:avLst/>
            <a:gdLst>
              <a:gd name="connsiteX0" fmla="*/ 916162 w 1457748"/>
              <a:gd name="connsiteY0" fmla="*/ 0 h 1454632"/>
              <a:gd name="connsiteX1" fmla="*/ 1457748 w 1457748"/>
              <a:gd name="connsiteY1" fmla="*/ 0 h 1454632"/>
              <a:gd name="connsiteX2" fmla="*/ 1450387 w 1457748"/>
              <a:gd name="connsiteY2" fmla="*/ 145781 h 1454632"/>
              <a:gd name="connsiteX3" fmla="*/ 0 w 1457748"/>
              <a:gd name="connsiteY3" fmla="*/ 1454632 h 1454632"/>
              <a:gd name="connsiteX4" fmla="*/ 0 w 1457748"/>
              <a:gd name="connsiteY4" fmla="*/ 913046 h 1454632"/>
              <a:gd name="connsiteX5" fmla="*/ 911597 w 1457748"/>
              <a:gd name="connsiteY5" fmla="*/ 90407 h 145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7748" h="1454632">
                <a:moveTo>
                  <a:pt x="916162" y="0"/>
                </a:moveTo>
                <a:lnTo>
                  <a:pt x="1457748" y="0"/>
                </a:lnTo>
                <a:lnTo>
                  <a:pt x="1450387" y="145781"/>
                </a:lnTo>
                <a:cubicBezTo>
                  <a:pt x="1375727" y="880944"/>
                  <a:pt x="754860" y="1454632"/>
                  <a:pt x="0" y="1454632"/>
                </a:cubicBezTo>
                <a:lnTo>
                  <a:pt x="0" y="913046"/>
                </a:lnTo>
                <a:cubicBezTo>
                  <a:pt x="474444" y="913046"/>
                  <a:pt x="864672" y="552471"/>
                  <a:pt x="911597" y="9040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/>
          <a:srcRect l="23702" t="9514" r="16456" b="12361"/>
          <a:stretch>
            <a:fillRect/>
          </a:stretch>
        </p:blipFill>
        <p:spPr>
          <a:xfrm>
            <a:off x="6562500" y="1258221"/>
            <a:ext cx="4854023" cy="396256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1235074" y="1349011"/>
            <a:ext cx="5232511" cy="238931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2.xml"/><Relationship Id="rId20" Type="http://schemas.openxmlformats.org/officeDocument/2006/relationships/tags" Target="../tags/tag91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38000">
                <a:schemeClr val="bg1"/>
              </a:gs>
              <a:gs pos="100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 flipH="1">
            <a:off x="10931084" y="0"/>
            <a:ext cx="1260916" cy="1258221"/>
          </a:xfrm>
          <a:custGeom>
            <a:avLst/>
            <a:gdLst>
              <a:gd name="connsiteX0" fmla="*/ 916162 w 1457748"/>
              <a:gd name="connsiteY0" fmla="*/ 0 h 1454632"/>
              <a:gd name="connsiteX1" fmla="*/ 1457748 w 1457748"/>
              <a:gd name="connsiteY1" fmla="*/ 0 h 1454632"/>
              <a:gd name="connsiteX2" fmla="*/ 1450387 w 1457748"/>
              <a:gd name="connsiteY2" fmla="*/ 145781 h 1454632"/>
              <a:gd name="connsiteX3" fmla="*/ 0 w 1457748"/>
              <a:gd name="connsiteY3" fmla="*/ 1454632 h 1454632"/>
              <a:gd name="connsiteX4" fmla="*/ 0 w 1457748"/>
              <a:gd name="connsiteY4" fmla="*/ 913046 h 1454632"/>
              <a:gd name="connsiteX5" fmla="*/ 911597 w 1457748"/>
              <a:gd name="connsiteY5" fmla="*/ 90407 h 145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7748" h="1454632">
                <a:moveTo>
                  <a:pt x="916162" y="0"/>
                </a:moveTo>
                <a:lnTo>
                  <a:pt x="1457748" y="0"/>
                </a:lnTo>
                <a:lnTo>
                  <a:pt x="1450387" y="145781"/>
                </a:lnTo>
                <a:cubicBezTo>
                  <a:pt x="1375727" y="880944"/>
                  <a:pt x="754860" y="1454632"/>
                  <a:pt x="0" y="1454632"/>
                </a:cubicBezTo>
                <a:lnTo>
                  <a:pt x="0" y="913046"/>
                </a:lnTo>
                <a:cubicBezTo>
                  <a:pt x="474444" y="913046"/>
                  <a:pt x="864672" y="552471"/>
                  <a:pt x="911597" y="9040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14"/>
            </p:custDataLst>
          </p:nvPr>
        </p:nvSpPr>
        <p:spPr>
          <a:xfrm rot="10800000" flipV="1">
            <a:off x="11016712" y="892385"/>
            <a:ext cx="337088" cy="89616"/>
          </a:xfrm>
          <a:custGeom>
            <a:avLst/>
            <a:gdLst>
              <a:gd name="connsiteX0" fmla="*/ 437468 w 504535"/>
              <a:gd name="connsiteY0" fmla="*/ 0 h 134134"/>
              <a:gd name="connsiteX1" fmla="*/ 504535 w 504535"/>
              <a:gd name="connsiteY1" fmla="*/ 67067 h 134134"/>
              <a:gd name="connsiteX2" fmla="*/ 437468 w 504535"/>
              <a:gd name="connsiteY2" fmla="*/ 134134 h 134134"/>
              <a:gd name="connsiteX3" fmla="*/ 370401 w 504535"/>
              <a:gd name="connsiteY3" fmla="*/ 67067 h 134134"/>
              <a:gd name="connsiteX4" fmla="*/ 437468 w 504535"/>
              <a:gd name="connsiteY4" fmla="*/ 0 h 134134"/>
              <a:gd name="connsiteX5" fmla="*/ 252267 w 504535"/>
              <a:gd name="connsiteY5" fmla="*/ 0 h 134134"/>
              <a:gd name="connsiteX6" fmla="*/ 319334 w 504535"/>
              <a:gd name="connsiteY6" fmla="*/ 67067 h 134134"/>
              <a:gd name="connsiteX7" fmla="*/ 252267 w 504535"/>
              <a:gd name="connsiteY7" fmla="*/ 134134 h 134134"/>
              <a:gd name="connsiteX8" fmla="*/ 185200 w 504535"/>
              <a:gd name="connsiteY8" fmla="*/ 67067 h 134134"/>
              <a:gd name="connsiteX9" fmla="*/ 252267 w 504535"/>
              <a:gd name="connsiteY9" fmla="*/ 0 h 134134"/>
              <a:gd name="connsiteX10" fmla="*/ 67067 w 504535"/>
              <a:gd name="connsiteY10" fmla="*/ 0 h 134134"/>
              <a:gd name="connsiteX11" fmla="*/ 134134 w 504535"/>
              <a:gd name="connsiteY11" fmla="*/ 67067 h 134134"/>
              <a:gd name="connsiteX12" fmla="*/ 67067 w 504535"/>
              <a:gd name="connsiteY12" fmla="*/ 134134 h 134134"/>
              <a:gd name="connsiteX13" fmla="*/ 0 w 504535"/>
              <a:gd name="connsiteY13" fmla="*/ 67067 h 134134"/>
              <a:gd name="connsiteX14" fmla="*/ 67067 w 504535"/>
              <a:gd name="connsiteY14" fmla="*/ 0 h 13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04535" h="134134">
                <a:moveTo>
                  <a:pt x="437468" y="0"/>
                </a:moveTo>
                <a:cubicBezTo>
                  <a:pt x="474508" y="0"/>
                  <a:pt x="504535" y="30027"/>
                  <a:pt x="504535" y="67067"/>
                </a:cubicBezTo>
                <a:cubicBezTo>
                  <a:pt x="504535" y="104107"/>
                  <a:pt x="474508" y="134134"/>
                  <a:pt x="437468" y="134134"/>
                </a:cubicBezTo>
                <a:cubicBezTo>
                  <a:pt x="400428" y="134134"/>
                  <a:pt x="370401" y="104107"/>
                  <a:pt x="370401" y="67067"/>
                </a:cubicBezTo>
                <a:cubicBezTo>
                  <a:pt x="370401" y="30027"/>
                  <a:pt x="400428" y="0"/>
                  <a:pt x="437468" y="0"/>
                </a:cubicBezTo>
                <a:close/>
                <a:moveTo>
                  <a:pt x="252267" y="0"/>
                </a:moveTo>
                <a:cubicBezTo>
                  <a:pt x="289307" y="0"/>
                  <a:pt x="319334" y="30027"/>
                  <a:pt x="319334" y="67067"/>
                </a:cubicBezTo>
                <a:cubicBezTo>
                  <a:pt x="319334" y="104107"/>
                  <a:pt x="289307" y="134134"/>
                  <a:pt x="252267" y="134134"/>
                </a:cubicBezTo>
                <a:cubicBezTo>
                  <a:pt x="215227" y="134134"/>
                  <a:pt x="185200" y="104107"/>
                  <a:pt x="185200" y="67067"/>
                </a:cubicBezTo>
                <a:cubicBezTo>
                  <a:pt x="185200" y="30027"/>
                  <a:pt x="215227" y="0"/>
                  <a:pt x="252267" y="0"/>
                </a:cubicBezTo>
                <a:close/>
                <a:moveTo>
                  <a:pt x="67067" y="0"/>
                </a:moveTo>
                <a:cubicBezTo>
                  <a:pt x="104107" y="0"/>
                  <a:pt x="134134" y="30027"/>
                  <a:pt x="134134" y="67067"/>
                </a:cubicBezTo>
                <a:cubicBezTo>
                  <a:pt x="134134" y="104107"/>
                  <a:pt x="104107" y="134134"/>
                  <a:pt x="67067" y="134134"/>
                </a:cubicBezTo>
                <a:cubicBezTo>
                  <a:pt x="30027" y="134134"/>
                  <a:pt x="0" y="104107"/>
                  <a:pt x="0" y="67067"/>
                </a:cubicBezTo>
                <a:cubicBezTo>
                  <a:pt x="0" y="30027"/>
                  <a:pt x="30027" y="0"/>
                  <a:pt x="670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1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image" Target="../media/image8.jpeg"/><Relationship Id="rId2" Type="http://schemas.openxmlformats.org/officeDocument/2006/relationships/tags" Target="../tags/tag93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1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7.svg"/><Relationship Id="rId12" Type="http://schemas.openxmlformats.org/officeDocument/2006/relationships/image" Target="../media/image26.png"/><Relationship Id="rId11" Type="http://schemas.openxmlformats.org/officeDocument/2006/relationships/image" Target="../media/image25.svg"/><Relationship Id="rId10" Type="http://schemas.openxmlformats.org/officeDocument/2006/relationships/image" Target="../media/image16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svg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9281" y="1544729"/>
            <a:ext cx="10334961" cy="8096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080" b="1" i="0">
                <a:solidFill>
                  <a:srgbClr val="B8860B"/>
                </a:solidFill>
                <a:latin typeface="Playfair Display"/>
              </a:rPr>
              <a:t>RELIANT DIGITECH ELECTRONICS</a:t>
            </a:r>
            <a:endParaRPr sz="408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65981" y="2455900"/>
            <a:ext cx="5059583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5" b="0" i="0">
                <a:solidFill>
                  <a:srgbClr val="B8860B"/>
                </a:solidFill>
                <a:latin typeface="Playfair Display"/>
              </a:rPr>
              <a:t>Data Engineering &amp; Analytics Project</a:t>
            </a:r>
            <a:endParaRPr sz="220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33387" y="3170257"/>
            <a:ext cx="8124919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40" b="0" i="0">
                <a:solidFill>
                  <a:srgbClr val="B8860B"/>
                </a:solidFill>
                <a:latin typeface="Inter 18pt"/>
              </a:rPr>
              <a:t>End-to-End Pipeline | Snowflake Medallion Architecture | Business Insights</a:t>
            </a:r>
            <a:endParaRPr sz="1340" b="0" i="0">
              <a:solidFill>
                <a:srgbClr val="B8860B"/>
              </a:solidFill>
              <a:latin typeface="Inter 18p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94833" y="3740552"/>
            <a:ext cx="1251315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40" b="1" i="0">
                <a:solidFill>
                  <a:srgbClr val="A37400"/>
                </a:solidFill>
                <a:latin typeface="Playfair Display"/>
              </a:rPr>
              <a:t>1,46,500+</a:t>
            </a:r>
            <a:endParaRPr sz="2040" b="1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5626" y="4148182"/>
            <a:ext cx="86972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Total Records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1999" y="3740552"/>
            <a:ext cx="123821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40" b="1" i="0">
                <a:solidFill>
                  <a:srgbClr val="A37400"/>
                </a:solidFill>
                <a:latin typeface="Playfair Display"/>
              </a:rPr>
              <a:t>7</a:t>
            </a:r>
            <a:endParaRPr sz="2040" b="1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50941" y="4148182"/>
            <a:ext cx="104593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Source Datasets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8087" y="3740552"/>
            <a:ext cx="295714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40" b="1" i="0">
                <a:solidFill>
                  <a:srgbClr val="A37400"/>
                </a:solidFill>
                <a:latin typeface="Playfair Display"/>
              </a:rPr>
              <a:t>10</a:t>
            </a:r>
            <a:endParaRPr sz="2040" b="1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1671" y="4148182"/>
            <a:ext cx="1228545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Stores Across India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47104" y="3740552"/>
            <a:ext cx="137513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40" b="1" i="0">
                <a:solidFill>
                  <a:srgbClr val="A37400"/>
                </a:solidFill>
                <a:latin typeface="Playfair Display"/>
              </a:rPr>
              <a:t>3</a:t>
            </a:r>
            <a:endParaRPr sz="2040" b="1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35009" y="4148182"/>
            <a:ext cx="96185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Pipeline Layers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48787" y="5765159"/>
            <a:ext cx="369411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Built with Python • Snowflake • SQL • pandas • matplotlib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94800" y="360000"/>
            <a:ext cx="6713706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ctr" defTabSz="457200" rtl="0" eaLnBrk="1" fontAlgn="base" latinLnBrk="0" hangingPunct="1">
              <a:spcBef>
                <a:spcPct val="0"/>
              </a:spcBef>
              <a:buNone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pc="0" dirty="0">
                <a:solidFill>
                  <a:schemeClr val="accent1"/>
                </a:solidFill>
                <a:latin typeface="+mj-lt"/>
              </a:rPr>
              <a:t>Overview</a:t>
            </a:r>
            <a:endParaRPr lang="en-US" b="1" spc="0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6155050" y="2"/>
            <a:ext cx="6036950" cy="6040857"/>
          </a:xfrm>
          <a:custGeom>
            <a:avLst/>
            <a:gdLst>
              <a:gd name="connsiteX0" fmla="*/ 2276483 w 6036950"/>
              <a:gd name="connsiteY0" fmla="*/ 0 h 6040857"/>
              <a:gd name="connsiteX1" fmla="*/ 6036950 w 6036950"/>
              <a:gd name="connsiteY1" fmla="*/ 0 h 6040857"/>
              <a:gd name="connsiteX2" fmla="*/ 6036950 w 6036950"/>
              <a:gd name="connsiteY2" fmla="*/ 2936006 h 6040857"/>
              <a:gd name="connsiteX3" fmla="*/ 4238679 w 6036950"/>
              <a:gd name="connsiteY3" fmla="*/ 5156686 h 6040857"/>
              <a:gd name="connsiteX4" fmla="*/ 884172 w 6036950"/>
              <a:gd name="connsiteY4" fmla="*/ 5509259 h 6040857"/>
              <a:gd name="connsiteX5" fmla="*/ 531600 w 6036950"/>
              <a:gd name="connsiteY5" fmla="*/ 2154752 h 604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6950" h="6040857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 algn="ctr">
            <a:solidFill>
              <a:schemeClr val="tx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254000" dir="4200000" algn="ctr" rotWithShape="0">
              <a:schemeClr val="accent1">
                <a:alpha val="15000"/>
              </a:schemeClr>
            </a:outerShdw>
          </a:effectLst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304812" y="1473518"/>
            <a:ext cx="3952177" cy="2760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accent1"/>
                </a:solidFill>
                <a:latin typeface="+mj-lt"/>
              </a:rPr>
              <a:t>Multi-city electronics retail chain in India</a:t>
            </a:r>
            <a:endParaRPr lang="en-US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688516" y="1493870"/>
            <a:ext cx="461109" cy="461109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01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16" name="矩形 15"/>
          <p:cNvSpPr/>
          <p:nvPr>
            <p:custDataLst>
              <p:tags r:id="rId6"/>
            </p:custDataLst>
          </p:nvPr>
        </p:nvSpPr>
        <p:spPr>
          <a:xfrm>
            <a:off x="1304812" y="2461880"/>
            <a:ext cx="3952177" cy="2760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1"/>
                </a:solidFill>
                <a:latin typeface="+mj-lt"/>
              </a:rPr>
              <a:t>10 stores — Mall &amp; High Street formats</a:t>
            </a:r>
            <a:endParaRPr lang="en-US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7" name="椭圆 16"/>
          <p:cNvSpPr/>
          <p:nvPr>
            <p:custDataLst>
              <p:tags r:id="rId7"/>
            </p:custDataLst>
          </p:nvPr>
        </p:nvSpPr>
        <p:spPr>
          <a:xfrm>
            <a:off x="688516" y="2482232"/>
            <a:ext cx="461109" cy="461109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02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1304812" y="3450242"/>
            <a:ext cx="3952177" cy="2760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1"/>
                </a:solidFill>
                <a:latin typeface="+mj-lt"/>
              </a:rPr>
              <a:t>Cities: Hyderabad, Bangalore &amp; more</a:t>
            </a:r>
            <a:endParaRPr lang="en-US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1" name="椭圆 20"/>
          <p:cNvSpPr/>
          <p:nvPr>
            <p:custDataLst>
              <p:tags r:id="rId9"/>
            </p:custDataLst>
          </p:nvPr>
        </p:nvSpPr>
        <p:spPr>
          <a:xfrm>
            <a:off x="688516" y="3470595"/>
            <a:ext cx="461109" cy="461109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03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1304925" y="4335780"/>
            <a:ext cx="3952240" cy="70739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buClrTx/>
              <a:buSzTx/>
              <a:buFontTx/>
            </a:pPr>
            <a:r>
              <a:rPr lang="en-US" sz="1500" b="1">
                <a:solidFill>
                  <a:schemeClr val="accent1"/>
                </a:solidFill>
                <a:latin typeface="+mj-lt"/>
                <a:sym typeface="+mn-ea"/>
              </a:rPr>
              <a:t>Products: Mobiles, Laptops, TVs, Appliances &amp; Accessories</a:t>
            </a:r>
            <a:endParaRPr lang="en-US" sz="1500" b="1">
              <a:solidFill>
                <a:schemeClr val="accent1"/>
              </a:solidFill>
              <a:latin typeface="+mj-lt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688516" y="4458957"/>
            <a:ext cx="461109" cy="461109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04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6" name="矩形 25"/>
          <p:cNvSpPr/>
          <p:nvPr>
            <p:custDataLst>
              <p:tags r:id="rId12"/>
            </p:custDataLst>
          </p:nvPr>
        </p:nvSpPr>
        <p:spPr>
          <a:xfrm>
            <a:off x="1304812" y="5426967"/>
            <a:ext cx="3952177" cy="2760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1"/>
                </a:solidFill>
                <a:latin typeface="+mj-lt"/>
              </a:rPr>
              <a:t>Multiple brands — wide product range</a:t>
            </a:r>
            <a:endParaRPr lang="en-US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7" name="椭圆 26"/>
          <p:cNvSpPr/>
          <p:nvPr>
            <p:custDataLst>
              <p:tags r:id="rId13"/>
            </p:custDataLst>
          </p:nvPr>
        </p:nvSpPr>
        <p:spPr>
          <a:xfrm>
            <a:off x="688516" y="5447955"/>
            <a:ext cx="461109" cy="461109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05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792" y="285742"/>
            <a:ext cx="2895229" cy="504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60" b="0" i="0">
                <a:solidFill>
                  <a:srgbClr val="B8860B"/>
                </a:solidFill>
                <a:latin typeface="Playfair Display"/>
              </a:rPr>
              <a:t>Project Objective</a:t>
            </a:r>
            <a:endParaRPr sz="2760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61" name="矩形 60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308510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任意多边形: 形状 65"/>
          <p:cNvSpPr/>
          <p:nvPr>
            <p:custDataLst>
              <p:tags r:id="rId2"/>
            </p:custDataLst>
          </p:nvPr>
        </p:nvSpPr>
        <p:spPr>
          <a:xfrm>
            <a:off x="9420981" y="392965"/>
            <a:ext cx="1282202" cy="1265764"/>
          </a:xfrm>
          <a:custGeom>
            <a:avLst/>
            <a:gdLst>
              <a:gd name="connsiteX0" fmla="*/ 1382820 w 1473826"/>
              <a:gd name="connsiteY0" fmla="*/ 0 h 1454932"/>
              <a:gd name="connsiteX1" fmla="*/ 1438304 w 1473826"/>
              <a:gd name="connsiteY1" fmla="*/ 162969 h 1454932"/>
              <a:gd name="connsiteX2" fmla="*/ 1256926 w 1473826"/>
              <a:gd name="connsiteY2" fmla="*/ 389062 h 1454932"/>
              <a:gd name="connsiteX3" fmla="*/ 1236488 w 1473826"/>
              <a:gd name="connsiteY3" fmla="*/ 425726 h 1454932"/>
              <a:gd name="connsiteX4" fmla="*/ 1174577 w 1473826"/>
              <a:gd name="connsiteY4" fmla="*/ 538664 h 1454932"/>
              <a:gd name="connsiteX5" fmla="*/ 1128797 w 1473826"/>
              <a:gd name="connsiteY5" fmla="*/ 615756 h 1454932"/>
              <a:gd name="connsiteX6" fmla="*/ 988733 w 1473826"/>
              <a:gd name="connsiteY6" fmla="*/ 688539 h 1454932"/>
              <a:gd name="connsiteX7" fmla="*/ 984809 w 1473826"/>
              <a:gd name="connsiteY7" fmla="*/ 689520 h 1454932"/>
              <a:gd name="connsiteX8" fmla="*/ 991513 w 1473826"/>
              <a:gd name="connsiteY8" fmla="*/ 699668 h 1454932"/>
              <a:gd name="connsiteX9" fmla="*/ 991948 w 1473826"/>
              <a:gd name="connsiteY9" fmla="*/ 823736 h 1454932"/>
              <a:gd name="connsiteX10" fmla="*/ 986880 w 1473826"/>
              <a:gd name="connsiteY10" fmla="*/ 830938 h 1454932"/>
              <a:gd name="connsiteX11" fmla="*/ 691165 w 1473826"/>
              <a:gd name="connsiteY11" fmla="*/ 1036627 h 1454932"/>
              <a:gd name="connsiteX12" fmla="*/ 590340 w 1473826"/>
              <a:gd name="connsiteY12" fmla="*/ 1036627 h 1454932"/>
              <a:gd name="connsiteX13" fmla="*/ 324982 w 1473826"/>
              <a:gd name="connsiteY13" fmla="*/ 1072636 h 1454932"/>
              <a:gd name="connsiteX14" fmla="*/ 218761 w 1473826"/>
              <a:gd name="connsiteY14" fmla="*/ 1291200 h 1454932"/>
              <a:gd name="connsiteX15" fmla="*/ 1211909 w 1473826"/>
              <a:gd name="connsiteY15" fmla="*/ 1291255 h 1454932"/>
              <a:gd name="connsiteX16" fmla="*/ 1293658 w 1473826"/>
              <a:gd name="connsiteY16" fmla="*/ 1373094 h 1454932"/>
              <a:gd name="connsiteX17" fmla="*/ 1293658 w 1473826"/>
              <a:gd name="connsiteY17" fmla="*/ 1427657 h 1454932"/>
              <a:gd name="connsiteX18" fmla="*/ 1266408 w 1473826"/>
              <a:gd name="connsiteY18" fmla="*/ 1454933 h 1454932"/>
              <a:gd name="connsiteX19" fmla="*/ 27250 w 1473826"/>
              <a:gd name="connsiteY19" fmla="*/ 1454933 h 1454932"/>
              <a:gd name="connsiteX20" fmla="*/ 0 w 1473826"/>
              <a:gd name="connsiteY20" fmla="*/ 1427657 h 1454932"/>
              <a:gd name="connsiteX21" fmla="*/ 0 w 1473826"/>
              <a:gd name="connsiteY21" fmla="*/ 1373094 h 1454932"/>
              <a:gd name="connsiteX22" fmla="*/ 5504 w 1473826"/>
              <a:gd name="connsiteY22" fmla="*/ 1343468 h 1454932"/>
              <a:gd name="connsiteX23" fmla="*/ 9701 w 1473826"/>
              <a:gd name="connsiteY23" fmla="*/ 1327646 h 1454932"/>
              <a:gd name="connsiteX24" fmla="*/ 452510 w 1473826"/>
              <a:gd name="connsiteY24" fmla="*/ 482250 h 1454932"/>
              <a:gd name="connsiteX25" fmla="*/ 1382820 w 1473826"/>
              <a:gd name="connsiteY25" fmla="*/ 0 h 1454932"/>
              <a:gd name="connsiteX26" fmla="*/ 1153267 w 1473826"/>
              <a:gd name="connsiteY26" fmla="*/ 209563 h 1454932"/>
              <a:gd name="connsiteX27" fmla="*/ 1141386 w 1473826"/>
              <a:gd name="connsiteY27" fmla="*/ 212618 h 1454932"/>
              <a:gd name="connsiteX28" fmla="*/ 422372 w 1473826"/>
              <a:gd name="connsiteY28" fmla="*/ 842777 h 1454932"/>
              <a:gd name="connsiteX29" fmla="*/ 412727 w 1473826"/>
              <a:gd name="connsiteY29" fmla="*/ 859800 h 1454932"/>
              <a:gd name="connsiteX30" fmla="*/ 432836 w 1473826"/>
              <a:gd name="connsiteY30" fmla="*/ 858491 h 1454932"/>
              <a:gd name="connsiteX31" fmla="*/ 604510 w 1473826"/>
              <a:gd name="connsiteY31" fmla="*/ 854672 h 1454932"/>
              <a:gd name="connsiteX32" fmla="*/ 691165 w 1473826"/>
              <a:gd name="connsiteY32" fmla="*/ 854672 h 1454932"/>
              <a:gd name="connsiteX33" fmla="*/ 805560 w 1473826"/>
              <a:gd name="connsiteY33" fmla="*/ 767977 h 1454932"/>
              <a:gd name="connsiteX34" fmla="*/ 809102 w 1473826"/>
              <a:gd name="connsiteY34" fmla="*/ 763558 h 1454932"/>
              <a:gd name="connsiteX35" fmla="*/ 801745 w 1473826"/>
              <a:gd name="connsiteY35" fmla="*/ 755210 h 1454932"/>
              <a:gd name="connsiteX36" fmla="*/ 758145 w 1473826"/>
              <a:gd name="connsiteY36" fmla="*/ 710198 h 1454932"/>
              <a:gd name="connsiteX37" fmla="*/ 747300 w 1473826"/>
              <a:gd name="connsiteY37" fmla="*/ 699777 h 1454932"/>
              <a:gd name="connsiteX38" fmla="*/ 792317 w 1473826"/>
              <a:gd name="connsiteY38" fmla="*/ 544830 h 1454932"/>
              <a:gd name="connsiteX39" fmla="*/ 940229 w 1473826"/>
              <a:gd name="connsiteY39" fmla="*/ 512258 h 1454932"/>
              <a:gd name="connsiteX40" fmla="*/ 960666 w 1473826"/>
              <a:gd name="connsiteY40" fmla="*/ 506856 h 1454932"/>
              <a:gd name="connsiteX41" fmla="*/ 982793 w 1473826"/>
              <a:gd name="connsiteY41" fmla="*/ 500309 h 1454932"/>
              <a:gd name="connsiteX42" fmla="*/ 987262 w 1473826"/>
              <a:gd name="connsiteY42" fmla="*/ 498890 h 1454932"/>
              <a:gd name="connsiteX43" fmla="*/ 1002467 w 1473826"/>
              <a:gd name="connsiteY43" fmla="*/ 473466 h 1454932"/>
              <a:gd name="connsiteX44" fmla="*/ 1016637 w 1473826"/>
              <a:gd name="connsiteY44" fmla="*/ 448696 h 1454932"/>
              <a:gd name="connsiteX45" fmla="*/ 1027810 w 1473826"/>
              <a:gd name="connsiteY45" fmla="*/ 428836 h 1454932"/>
              <a:gd name="connsiteX46" fmla="*/ 1088576 w 1473826"/>
              <a:gd name="connsiteY46" fmla="*/ 317644 h 1454932"/>
              <a:gd name="connsiteX47" fmla="*/ 1153267 w 1473826"/>
              <a:gd name="connsiteY47" fmla="*/ 209508 h 1454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473826" h="1454932">
                <a:moveTo>
                  <a:pt x="1382820" y="0"/>
                </a:moveTo>
                <a:cubicBezTo>
                  <a:pt x="1469473" y="0"/>
                  <a:pt x="1506921" y="109937"/>
                  <a:pt x="1438304" y="162969"/>
                </a:cubicBezTo>
                <a:cubicBezTo>
                  <a:pt x="1366634" y="218347"/>
                  <a:pt x="1319764" y="278361"/>
                  <a:pt x="1256926" y="389062"/>
                </a:cubicBezTo>
                <a:lnTo>
                  <a:pt x="1236488" y="425726"/>
                </a:lnTo>
                <a:lnTo>
                  <a:pt x="1174577" y="538664"/>
                </a:lnTo>
                <a:cubicBezTo>
                  <a:pt x="1158773" y="566489"/>
                  <a:pt x="1144058" y="591368"/>
                  <a:pt x="1128797" y="615756"/>
                </a:cubicBezTo>
                <a:cubicBezTo>
                  <a:pt x="1108033" y="648873"/>
                  <a:pt x="1073752" y="667205"/>
                  <a:pt x="988733" y="688539"/>
                </a:cubicBezTo>
                <a:lnTo>
                  <a:pt x="984809" y="689520"/>
                </a:lnTo>
                <a:lnTo>
                  <a:pt x="991513" y="699668"/>
                </a:lnTo>
                <a:cubicBezTo>
                  <a:pt x="1019689" y="744789"/>
                  <a:pt x="1020398" y="781344"/>
                  <a:pt x="991948" y="823736"/>
                </a:cubicBezTo>
                <a:lnTo>
                  <a:pt x="986880" y="830938"/>
                </a:lnTo>
                <a:cubicBezTo>
                  <a:pt x="887472" y="965973"/>
                  <a:pt x="799674" y="1036627"/>
                  <a:pt x="691165" y="1036627"/>
                </a:cubicBezTo>
                <a:lnTo>
                  <a:pt x="590340" y="1036627"/>
                </a:lnTo>
                <a:cubicBezTo>
                  <a:pt x="401554" y="1037717"/>
                  <a:pt x="343674" y="1047538"/>
                  <a:pt x="324982" y="1072636"/>
                </a:cubicBezTo>
                <a:cubicBezTo>
                  <a:pt x="299422" y="1107117"/>
                  <a:pt x="263288" y="1180881"/>
                  <a:pt x="218761" y="1291200"/>
                </a:cubicBezTo>
                <a:lnTo>
                  <a:pt x="1211909" y="1291255"/>
                </a:lnTo>
                <a:cubicBezTo>
                  <a:pt x="1257058" y="1291255"/>
                  <a:pt x="1293658" y="1327895"/>
                  <a:pt x="1293658" y="1373094"/>
                </a:cubicBezTo>
                <a:lnTo>
                  <a:pt x="1293658" y="1427657"/>
                </a:lnTo>
                <a:cubicBezTo>
                  <a:pt x="1293658" y="1442719"/>
                  <a:pt x="1281458" y="1454933"/>
                  <a:pt x="1266408" y="1454933"/>
                </a:cubicBezTo>
                <a:lnTo>
                  <a:pt x="27250" y="1454933"/>
                </a:lnTo>
                <a:cubicBezTo>
                  <a:pt x="12200" y="1454933"/>
                  <a:pt x="0" y="1442719"/>
                  <a:pt x="0" y="1427657"/>
                </a:cubicBezTo>
                <a:lnTo>
                  <a:pt x="0" y="1373094"/>
                </a:lnTo>
                <a:cubicBezTo>
                  <a:pt x="0" y="1362618"/>
                  <a:pt x="1962" y="1352634"/>
                  <a:pt x="5504" y="1343468"/>
                </a:cubicBezTo>
                <a:cubicBezTo>
                  <a:pt x="6431" y="1338285"/>
                  <a:pt x="7848" y="1333047"/>
                  <a:pt x="9701" y="1327646"/>
                </a:cubicBezTo>
                <a:cubicBezTo>
                  <a:pt x="123442" y="999199"/>
                  <a:pt x="265685" y="712271"/>
                  <a:pt x="452510" y="482250"/>
                </a:cubicBezTo>
                <a:cubicBezTo>
                  <a:pt x="702773" y="174099"/>
                  <a:pt x="1011460" y="0"/>
                  <a:pt x="1382820" y="0"/>
                </a:cubicBezTo>
                <a:close/>
                <a:moveTo>
                  <a:pt x="1153267" y="209563"/>
                </a:moveTo>
                <a:lnTo>
                  <a:pt x="1141386" y="212618"/>
                </a:lnTo>
                <a:cubicBezTo>
                  <a:pt x="847197" y="290474"/>
                  <a:pt x="611323" y="513240"/>
                  <a:pt x="422372" y="842777"/>
                </a:cubicBezTo>
                <a:lnTo>
                  <a:pt x="412727" y="859800"/>
                </a:lnTo>
                <a:lnTo>
                  <a:pt x="432836" y="858491"/>
                </a:lnTo>
                <a:cubicBezTo>
                  <a:pt x="490016" y="855644"/>
                  <a:pt x="547262" y="854371"/>
                  <a:pt x="604510" y="854672"/>
                </a:cubicBezTo>
                <a:lnTo>
                  <a:pt x="691165" y="854672"/>
                </a:lnTo>
                <a:cubicBezTo>
                  <a:pt x="717597" y="854672"/>
                  <a:pt x="755584" y="827992"/>
                  <a:pt x="805560" y="767977"/>
                </a:cubicBezTo>
                <a:lnTo>
                  <a:pt x="809102" y="763558"/>
                </a:lnTo>
                <a:lnTo>
                  <a:pt x="801745" y="755210"/>
                </a:lnTo>
                <a:cubicBezTo>
                  <a:pt x="787695" y="739744"/>
                  <a:pt x="773154" y="724732"/>
                  <a:pt x="758145" y="710198"/>
                </a:cubicBezTo>
                <a:lnTo>
                  <a:pt x="747300" y="699777"/>
                </a:lnTo>
                <a:cubicBezTo>
                  <a:pt x="694162" y="648928"/>
                  <a:pt x="720214" y="559233"/>
                  <a:pt x="792317" y="544830"/>
                </a:cubicBezTo>
                <a:cubicBezTo>
                  <a:pt x="841882" y="535200"/>
                  <a:pt x="891201" y="524340"/>
                  <a:pt x="940229" y="512258"/>
                </a:cubicBezTo>
                <a:lnTo>
                  <a:pt x="960666" y="506856"/>
                </a:lnTo>
                <a:cubicBezTo>
                  <a:pt x="969222" y="504509"/>
                  <a:pt x="976634" y="502327"/>
                  <a:pt x="982793" y="500309"/>
                </a:cubicBezTo>
                <a:lnTo>
                  <a:pt x="987262" y="498890"/>
                </a:lnTo>
                <a:lnTo>
                  <a:pt x="1002467" y="473466"/>
                </a:lnTo>
                <a:lnTo>
                  <a:pt x="1016637" y="448696"/>
                </a:lnTo>
                <a:lnTo>
                  <a:pt x="1027810" y="428836"/>
                </a:lnTo>
                <a:lnTo>
                  <a:pt x="1088576" y="317644"/>
                </a:lnTo>
                <a:cubicBezTo>
                  <a:pt x="1108831" y="280830"/>
                  <a:pt x="1130408" y="244760"/>
                  <a:pt x="1153267" y="20950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  <a:alpha val="33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43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标题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6000" y="360000"/>
            <a:ext cx="10800000" cy="72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vert="horz" wrap="square" lIns="0" tIns="0" rIns="0" bIns="0" rtlCol="0" anchor="b" anchorCtr="0">
            <a:normAutofit/>
          </a:bodyPr>
          <a:lstStyle>
            <a:lvl1pPr algn="ctr" defTabSz="457200" rtl="0" eaLnBrk="1" fontAlgn="base" latinLnBrk="0" hangingPunct="1">
              <a:spcBef>
                <a:spcPct val="0"/>
              </a:spcBef>
              <a:buNone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pc="0" dirty="0">
                <a:solidFill>
                  <a:schemeClr val="lt1">
                    <a:lumMod val="100000"/>
                  </a:schemeClr>
                </a:solidFill>
                <a:latin typeface="+mj-lt"/>
              </a:rPr>
              <a:t>Project Objective</a:t>
            </a:r>
            <a:endParaRPr lang="en-US" spc="0" dirty="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27" name="矩形: 圆角 24"/>
          <p:cNvSpPr/>
          <p:nvPr>
            <p:custDataLst>
              <p:tags r:id="rId4"/>
            </p:custDataLst>
          </p:nvPr>
        </p:nvSpPr>
        <p:spPr>
          <a:xfrm>
            <a:off x="695325" y="1713573"/>
            <a:ext cx="3320113" cy="2156888"/>
          </a:xfrm>
          <a:prstGeom prst="roundRect">
            <a:avLst>
              <a:gd name="adj" fmla="val 52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矩形 28"/>
          <p:cNvSpPr/>
          <p:nvPr>
            <p:custDataLst>
              <p:tags r:id="rId5"/>
            </p:custDataLst>
          </p:nvPr>
        </p:nvSpPr>
        <p:spPr>
          <a:xfrm>
            <a:off x="978537" y="2587970"/>
            <a:ext cx="2000028" cy="59072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sz="1900" b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Centralise all data into Snowflake Data Warehouse</a:t>
            </a:r>
            <a:endParaRPr lang="en-US" sz="1900" b="1" dirty="0">
              <a:ln>
                <a:noFill/>
                <a:prstDash val="sysDot"/>
              </a:ln>
              <a:solidFill>
                <a:srgbClr val="212121"/>
              </a:solidFill>
              <a:latin typeface="+mn-lt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 sz="1300" b="1" dirty="0">
              <a:ln>
                <a:noFill/>
                <a:prstDash val="sysDot"/>
              </a:ln>
              <a:solidFill>
                <a:srgbClr val="212121"/>
              </a:solidFill>
              <a:latin typeface="+mn-lt"/>
            </a:endParaRPr>
          </a:p>
        </p:txBody>
      </p:sp>
      <p:sp>
        <p:nvSpPr>
          <p:cNvPr id="30" name="矩形 29"/>
          <p:cNvSpPr/>
          <p:nvPr>
            <p:custDataLst>
              <p:tags r:id="rId6"/>
            </p:custDataLst>
          </p:nvPr>
        </p:nvSpPr>
        <p:spPr>
          <a:xfrm>
            <a:off x="3081041" y="1902805"/>
            <a:ext cx="727652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3200" b="1" dirty="0">
                <a:solidFill>
                  <a:schemeClr val="accent1"/>
                </a:solidFill>
                <a:latin typeface="+mn-lt"/>
              </a:rPr>
              <a:t>01</a:t>
            </a: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1" name="矩形: 圆角 17"/>
          <p:cNvSpPr/>
          <p:nvPr>
            <p:custDataLst>
              <p:tags r:id="rId7"/>
            </p:custDataLst>
          </p:nvPr>
        </p:nvSpPr>
        <p:spPr>
          <a:xfrm>
            <a:off x="4444398" y="1713573"/>
            <a:ext cx="3320113" cy="2156888"/>
          </a:xfrm>
          <a:prstGeom prst="roundRect">
            <a:avLst>
              <a:gd name="adj" fmla="val 52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矩形 33"/>
          <p:cNvSpPr/>
          <p:nvPr>
            <p:custDataLst>
              <p:tags r:id="rId8"/>
            </p:custDataLst>
          </p:nvPr>
        </p:nvSpPr>
        <p:spPr>
          <a:xfrm>
            <a:off x="6830113" y="1902805"/>
            <a:ext cx="727653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3200" b="1" dirty="0">
                <a:solidFill>
                  <a:schemeClr val="accent1"/>
                </a:solidFill>
                <a:latin typeface="+mn-lt"/>
              </a:rPr>
              <a:t>02</a:t>
            </a: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5" name="矩形: 圆角 22"/>
          <p:cNvSpPr/>
          <p:nvPr>
            <p:custDataLst>
              <p:tags r:id="rId9"/>
            </p:custDataLst>
          </p:nvPr>
        </p:nvSpPr>
        <p:spPr>
          <a:xfrm>
            <a:off x="8184580" y="1713573"/>
            <a:ext cx="3320113" cy="2156888"/>
          </a:xfrm>
          <a:prstGeom prst="roundRect">
            <a:avLst>
              <a:gd name="adj" fmla="val 52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00000"/>
              </a:lnSpc>
              <a:spcBef>
                <a:spcPts val="720"/>
              </a:spcBef>
              <a:buClr>
                <a:schemeClr val="accent1"/>
              </a:buClr>
              <a:buSzPct val="70000"/>
              <a:buFontTx/>
              <a:buNone/>
            </a:pPr>
            <a:r>
              <a:rPr sz="1900" b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Clean and transform raw retail data</a:t>
            </a:r>
            <a:endParaRPr sz="1900" b="1" i="0">
              <a:solidFill>
                <a:srgbClr val="000000"/>
              </a:solidFill>
              <a:latin typeface="Times New Roman" panose="02020603050405020304"/>
            </a:endParaRPr>
          </a:p>
          <a:p>
            <a:pPr indent="0" algn="l">
              <a:lnSpc>
                <a:spcPts val="1365"/>
              </a:lnSpc>
              <a:spcBef>
                <a:spcPts val="720"/>
              </a:spcBef>
              <a:spcAft>
                <a:spcPts val="0"/>
              </a:spcAft>
              <a:buClr>
                <a:srgbClr val="B8860B"/>
              </a:buClr>
              <a:buSzPct val="100000"/>
              <a:buFont typeface="Times New Roman" panose="02020603050405020304" charset="0"/>
              <a:buNone/>
            </a:pPr>
            <a:endParaRPr lang="en-US"/>
          </a:p>
        </p:txBody>
      </p:sp>
      <p:sp>
        <p:nvSpPr>
          <p:cNvPr id="38" name="矩形 37"/>
          <p:cNvSpPr/>
          <p:nvPr>
            <p:custDataLst>
              <p:tags r:id="rId10"/>
            </p:custDataLst>
          </p:nvPr>
        </p:nvSpPr>
        <p:spPr>
          <a:xfrm>
            <a:off x="10569661" y="1902805"/>
            <a:ext cx="727652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3200" b="1" dirty="0">
                <a:solidFill>
                  <a:schemeClr val="accent1"/>
                </a:solidFill>
                <a:latin typeface="+mn-lt"/>
              </a:rPr>
              <a:t>03</a:t>
            </a: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0" name="矩形: 圆角 39"/>
          <p:cNvSpPr/>
          <p:nvPr>
            <p:custDataLst>
              <p:tags r:id="rId11"/>
            </p:custDataLst>
          </p:nvPr>
        </p:nvSpPr>
        <p:spPr>
          <a:xfrm>
            <a:off x="594995" y="4142469"/>
            <a:ext cx="3320113" cy="2156888"/>
          </a:xfrm>
          <a:prstGeom prst="roundRect">
            <a:avLst>
              <a:gd name="adj" fmla="val 52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00000"/>
              </a:lnSpc>
              <a:spcBef>
                <a:spcPts val="720"/>
              </a:spcBef>
              <a:buClr>
                <a:schemeClr val="accent1"/>
              </a:buClr>
              <a:buSzPct val="70000"/>
              <a:buFontTx/>
              <a:buNone/>
            </a:pPr>
            <a:r>
              <a:rPr sz="1900" b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Generate KPIs: revenue, stock, ratings</a:t>
            </a:r>
            <a:endParaRPr sz="1900" b="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矩形 41"/>
          <p:cNvSpPr/>
          <p:nvPr>
            <p:custDataLst>
              <p:tags r:id="rId12"/>
            </p:custDataLst>
          </p:nvPr>
        </p:nvSpPr>
        <p:spPr>
          <a:xfrm>
            <a:off x="3089296" y="4331701"/>
            <a:ext cx="727652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3200" b="1" dirty="0">
                <a:solidFill>
                  <a:schemeClr val="accent1"/>
                </a:solidFill>
                <a:latin typeface="+mn-lt"/>
              </a:rPr>
              <a:t>04</a:t>
            </a: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5" name="矩形: 圆角 44"/>
          <p:cNvSpPr/>
          <p:nvPr>
            <p:custDataLst>
              <p:tags r:id="rId13"/>
            </p:custDataLst>
          </p:nvPr>
        </p:nvSpPr>
        <p:spPr>
          <a:xfrm>
            <a:off x="4444398" y="4142469"/>
            <a:ext cx="3320113" cy="2156888"/>
          </a:xfrm>
          <a:prstGeom prst="roundRect">
            <a:avLst>
              <a:gd name="adj" fmla="val 52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spcBef>
                <a:spcPts val="720"/>
              </a:spcBef>
              <a:buClr>
                <a:schemeClr val="accent1"/>
              </a:buClr>
              <a:buSzPct val="70000"/>
              <a:buFontTx/>
            </a:pPr>
            <a:r>
              <a:rPr sz="1900" b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Create visual charts for business insights</a:t>
            </a:r>
            <a:endParaRPr sz="1900" b="1" i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/>
          </a:p>
        </p:txBody>
      </p:sp>
      <p:sp>
        <p:nvSpPr>
          <p:cNvPr id="46" name="矩形 45"/>
          <p:cNvSpPr/>
          <p:nvPr>
            <p:custDataLst>
              <p:tags r:id="rId14"/>
            </p:custDataLst>
          </p:nvPr>
        </p:nvSpPr>
        <p:spPr>
          <a:xfrm>
            <a:off x="6830113" y="4331701"/>
            <a:ext cx="727653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3200" b="1" dirty="0">
                <a:solidFill>
                  <a:schemeClr val="accent1"/>
                </a:solidFill>
                <a:latin typeface="+mn-lt"/>
              </a:rPr>
              <a:t>05</a:t>
            </a: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0" name="矩形: 圆角 49"/>
          <p:cNvSpPr/>
          <p:nvPr>
            <p:custDataLst>
              <p:tags r:id="rId15"/>
            </p:custDataLst>
          </p:nvPr>
        </p:nvSpPr>
        <p:spPr>
          <a:xfrm>
            <a:off x="8175690" y="4142469"/>
            <a:ext cx="3320113" cy="2156888"/>
          </a:xfrm>
          <a:prstGeom prst="roundRect">
            <a:avLst>
              <a:gd name="adj" fmla="val 52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spcBef>
                <a:spcPts val="720"/>
              </a:spcBef>
              <a:buClr>
                <a:schemeClr val="accent1"/>
              </a:buClr>
              <a:buSzPct val="70000"/>
              <a:buFontTx/>
            </a:pPr>
            <a:r>
              <a:rPr sz="1900" b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Build reusable, automated ELT pipeline</a:t>
            </a:r>
            <a:endParaRPr sz="1900" b="1" i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/>
          </a:p>
        </p:txBody>
      </p:sp>
      <p:sp>
        <p:nvSpPr>
          <p:cNvPr id="49" name="矩形 48"/>
          <p:cNvSpPr/>
          <p:nvPr>
            <p:custDataLst>
              <p:tags r:id="rId16"/>
            </p:custDataLst>
          </p:nvPr>
        </p:nvSpPr>
        <p:spPr>
          <a:xfrm>
            <a:off x="10561406" y="4331701"/>
            <a:ext cx="727652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3200" b="1" dirty="0">
                <a:solidFill>
                  <a:schemeClr val="accent1"/>
                </a:solidFill>
                <a:latin typeface="+mn-lt"/>
              </a:rPr>
              <a:t>06</a:t>
            </a: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579620" y="2421890"/>
            <a:ext cx="3303905" cy="922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00000"/>
              </a:lnSpc>
              <a:spcBef>
                <a:spcPts val="720"/>
              </a:spcBef>
              <a:buClr>
                <a:schemeClr val="accent1"/>
              </a:buClr>
              <a:buSzPct val="70000"/>
              <a:buFontTx/>
              <a:buNone/>
            </a:pPr>
            <a:r>
              <a:rPr sz="1900" b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Build a 3-layer Medallion Architecture pipeline</a:t>
            </a:r>
            <a:endParaRPr sz="1900" b="1">
              <a:solidFill>
                <a:srgbClr val="000000"/>
              </a:solidFill>
              <a:latin typeface="Times New Roman" panose="02020603050405020304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720"/>
              </a:spcBef>
              <a:buClr>
                <a:schemeClr val="accent1"/>
              </a:buClr>
              <a:buSzPct val="70000"/>
              <a:buFontTx/>
              <a:buNone/>
            </a:pPr>
            <a:r>
              <a:rPr sz="1900" b="1">
                <a:solidFill>
                  <a:srgbClr val="000000"/>
                </a:solidFill>
                <a:latin typeface="Times New Roman" panose="02020603050405020304"/>
                <a:sym typeface="+mn-ea"/>
              </a:rPr>
              <a:t>(Bronze → Silver → Gold)</a:t>
            </a:r>
            <a:endParaRPr sz="1900" b="1" i="0">
              <a:solidFill>
                <a:srgbClr val="000000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720"/>
              </a:spcBef>
              <a:buClr>
                <a:schemeClr val="accent1"/>
              </a:buClr>
              <a:buSzPct val="70000"/>
              <a:buFontTx/>
              <a:buNone/>
            </a:pPr>
            <a:endParaRPr sz="1900" b="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57250" y="1900981"/>
            <a:ext cx="3390900" cy="1624458"/>
          </a:xfrm>
          <a:prstGeom prst="roundRect">
            <a:avLst>
              <a:gd name="adj" fmla="val 9381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84" y="2106460"/>
            <a:ext cx="274283" cy="27428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40010" y="2540793"/>
            <a:ext cx="493662" cy="253305"/>
          </a:xfrm>
          <a:prstGeom prst="roundRect">
            <a:avLst>
              <a:gd name="adj" fmla="val 22561"/>
            </a:avLst>
          </a:prstGeom>
          <a:solidFill>
            <a:srgbClr val="B8860B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00550" y="1900981"/>
            <a:ext cx="3390900" cy="1624458"/>
          </a:xfrm>
          <a:prstGeom prst="roundRect">
            <a:avLst>
              <a:gd name="adj" fmla="val 9381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3196" y="2106460"/>
            <a:ext cx="274283" cy="2742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83310" y="2540793"/>
            <a:ext cx="493662" cy="253305"/>
          </a:xfrm>
          <a:prstGeom prst="roundRect">
            <a:avLst>
              <a:gd name="adj" fmla="val 22561"/>
            </a:avLst>
          </a:prstGeom>
          <a:solidFill>
            <a:srgbClr val="B8860B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43850" y="1900981"/>
            <a:ext cx="3390900" cy="1624458"/>
          </a:xfrm>
          <a:prstGeom prst="roundRect">
            <a:avLst>
              <a:gd name="adj" fmla="val 9381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6407" y="2106460"/>
            <a:ext cx="274283" cy="27428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26610" y="2540793"/>
            <a:ext cx="493662" cy="253305"/>
          </a:xfrm>
          <a:prstGeom prst="roundRect">
            <a:avLst>
              <a:gd name="adj" fmla="val 22561"/>
            </a:avLst>
          </a:prstGeom>
          <a:solidFill>
            <a:srgbClr val="B8860B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20528" y="3677840"/>
            <a:ext cx="3699271" cy="1395858"/>
          </a:xfrm>
          <a:prstGeom prst="roundRect">
            <a:avLst>
              <a:gd name="adj" fmla="val 10918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7511" y="3883275"/>
            <a:ext cx="205712" cy="27428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503289" y="4317652"/>
            <a:ext cx="552747" cy="253305"/>
          </a:xfrm>
          <a:prstGeom prst="roundRect">
            <a:avLst>
              <a:gd name="adj" fmla="val 22561"/>
            </a:avLst>
          </a:prstGeom>
          <a:solidFill>
            <a:srgbClr val="B8860B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677840"/>
            <a:ext cx="3699271" cy="1395858"/>
          </a:xfrm>
          <a:prstGeom prst="roundRect">
            <a:avLst>
              <a:gd name="adj" fmla="val 10918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1944" y="3883275"/>
            <a:ext cx="239997" cy="27428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354960" y="4317652"/>
            <a:ext cx="707826" cy="253305"/>
          </a:xfrm>
          <a:prstGeom prst="roundRect">
            <a:avLst>
              <a:gd name="adj" fmla="val 22561"/>
            </a:avLst>
          </a:prstGeom>
          <a:solidFill>
            <a:srgbClr val="B8860B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20528" y="5226099"/>
            <a:ext cx="3699271" cy="1395858"/>
          </a:xfrm>
          <a:prstGeom prst="roundRect">
            <a:avLst>
              <a:gd name="adj" fmla="val 10918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3226" y="5431495"/>
            <a:ext cx="274283" cy="274283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503289" y="5865911"/>
            <a:ext cx="493662" cy="253305"/>
          </a:xfrm>
          <a:prstGeom prst="roundRect">
            <a:avLst>
              <a:gd name="adj" fmla="val 22561"/>
            </a:avLst>
          </a:prstGeom>
          <a:solidFill>
            <a:srgbClr val="B8860B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5226099"/>
            <a:ext cx="3699271" cy="1395858"/>
          </a:xfrm>
          <a:prstGeom prst="roundRect">
            <a:avLst>
              <a:gd name="adj" fmla="val 10918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4812" y="5458900"/>
            <a:ext cx="274262" cy="21947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354960" y="5865911"/>
            <a:ext cx="583852" cy="253305"/>
          </a:xfrm>
          <a:prstGeom prst="roundRect">
            <a:avLst>
              <a:gd name="adj" fmla="val 22561"/>
            </a:avLst>
          </a:prstGeom>
          <a:solidFill>
            <a:srgbClr val="B8860B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2467" y="216985"/>
            <a:ext cx="2726760" cy="504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760" b="0" i="0">
                <a:solidFill>
                  <a:srgbClr val="B8860B"/>
                </a:solidFill>
                <a:latin typeface="Playfair Display"/>
              </a:rPr>
              <a:t>Source Datasets</a:t>
            </a:r>
            <a:endParaRPr sz="2760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31199" y="1112313"/>
            <a:ext cx="7129145" cy="27686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b="1" i="0">
                <a:solidFill>
                  <a:srgbClr val="5A5651"/>
                </a:solidFill>
                <a:latin typeface="Inter 18pt"/>
              </a:rPr>
              <a:t>Seven comprehensive datasets covering all business operations</a:t>
            </a:r>
            <a:endParaRPr b="1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36155" y="2083690"/>
            <a:ext cx="674918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55" b="0" i="0">
                <a:solidFill>
                  <a:srgbClr val="A37400"/>
                </a:solidFill>
                <a:latin typeface="Playfair Display"/>
              </a:rPr>
              <a:t>orders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39865" y="2540700"/>
            <a:ext cx="493888" cy="253358"/>
          </a:xfrm>
          <a:prstGeom prst="rect">
            <a:avLst/>
          </a:prstGeom>
          <a:noFill/>
        </p:spPr>
        <p:txBody>
          <a:bodyPr wrap="none" lIns="106677" tIns="45718" rIns="106677" bIns="45718">
            <a:spAutoFit/>
          </a:bodyPr>
          <a:lstStyle/>
          <a:p>
            <a:pPr algn="ctr"/>
            <a:r>
              <a:rPr sz="980" b="1" i="0">
                <a:solidFill>
                  <a:srgbClr val="B28107"/>
                </a:solidFill>
                <a:latin typeface="Inter 18pt"/>
              </a:rPr>
              <a:t>CSV</a:t>
            </a:r>
            <a:endParaRPr sz="98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86031" y="2586419"/>
            <a:ext cx="107108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1,00,000 records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72895" y="2904457"/>
            <a:ext cx="2559333" cy="419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15" b="0" i="0">
                <a:solidFill>
                  <a:srgbClr val="5A5651"/>
                </a:solidFill>
                <a:latin typeface="Inter 18pt"/>
              </a:rPr>
              <a:t>Sales transactions — store, product, customer, revenue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79366" y="2083690"/>
            <a:ext cx="915121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55" b="0" i="0">
                <a:solidFill>
                  <a:srgbClr val="A37400"/>
                </a:solidFill>
                <a:latin typeface="Playfair Display"/>
              </a:rPr>
              <a:t>products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83077" y="2540700"/>
            <a:ext cx="493888" cy="253358"/>
          </a:xfrm>
          <a:prstGeom prst="rect">
            <a:avLst/>
          </a:prstGeom>
          <a:noFill/>
        </p:spPr>
        <p:txBody>
          <a:bodyPr wrap="none" lIns="106677" tIns="45718" rIns="106677" bIns="45718">
            <a:spAutoFit/>
          </a:bodyPr>
          <a:lstStyle/>
          <a:p>
            <a:pPr algn="ctr"/>
            <a:r>
              <a:rPr sz="980" b="1" i="0">
                <a:solidFill>
                  <a:srgbClr val="B28107"/>
                </a:solidFill>
                <a:latin typeface="Inter 18pt"/>
              </a:rPr>
              <a:t>CSV</a:t>
            </a:r>
            <a:endParaRPr sz="98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29243" y="2586419"/>
            <a:ext cx="74709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130 records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51665" y="2904457"/>
            <a:ext cx="2688363" cy="419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15" b="0" i="0">
                <a:solidFill>
                  <a:srgbClr val="5A5651"/>
                </a:solidFill>
                <a:latin typeface="Inter 18pt"/>
              </a:rPr>
              <a:t>Product catalogue — category, brand, price, warranty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22578" y="2083690"/>
            <a:ext cx="986408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55" b="0" i="0">
                <a:solidFill>
                  <a:srgbClr val="A37400"/>
                </a:solidFill>
                <a:latin typeface="Playfair Display"/>
              </a:rPr>
              <a:t>inventory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26288" y="2540700"/>
            <a:ext cx="493888" cy="253358"/>
          </a:xfrm>
          <a:prstGeom prst="rect">
            <a:avLst/>
          </a:prstGeom>
          <a:noFill/>
        </p:spPr>
        <p:txBody>
          <a:bodyPr wrap="none" lIns="106677" tIns="45718" rIns="106677" bIns="45718">
            <a:spAutoFit/>
          </a:bodyPr>
          <a:lstStyle/>
          <a:p>
            <a:pPr algn="ctr"/>
            <a:r>
              <a:rPr sz="980" b="1" i="0">
                <a:solidFill>
                  <a:srgbClr val="B28107"/>
                </a:solidFill>
                <a:latin typeface="Inter 18pt"/>
              </a:rPr>
              <a:t>CSV</a:t>
            </a:r>
            <a:endParaRPr sz="98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772454" y="2586419"/>
            <a:ext cx="86719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1,300 records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24641" y="2904457"/>
            <a:ext cx="2628834" cy="419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15" b="0" i="0">
                <a:solidFill>
                  <a:srgbClr val="5A5651"/>
                </a:solidFill>
                <a:latin typeface="Inter 18pt"/>
              </a:rPr>
              <a:t>Stock per store/product — opening &amp; closing stock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899396" y="3860504"/>
            <a:ext cx="1074958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55" b="0" i="0">
                <a:solidFill>
                  <a:srgbClr val="A37400"/>
                </a:solidFill>
                <a:latin typeface="Playfair Display"/>
              </a:rPr>
              <a:t>customers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03107" y="4317514"/>
            <a:ext cx="552971" cy="253358"/>
          </a:xfrm>
          <a:prstGeom prst="rect">
            <a:avLst/>
          </a:prstGeom>
          <a:noFill/>
        </p:spPr>
        <p:txBody>
          <a:bodyPr wrap="none" lIns="106677" tIns="45718" rIns="106677" bIns="45718">
            <a:spAutoFit/>
          </a:bodyPr>
          <a:lstStyle/>
          <a:p>
            <a:pPr algn="ctr"/>
            <a:r>
              <a:rPr sz="980" b="1" i="0">
                <a:solidFill>
                  <a:srgbClr val="B28107"/>
                </a:solidFill>
                <a:latin typeface="Inter 18pt"/>
              </a:rPr>
              <a:t>Excel</a:t>
            </a:r>
            <a:endParaRPr sz="98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08356" y="4363233"/>
            <a:ext cx="77522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500 records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62160" y="4681271"/>
            <a:ext cx="3215648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5" b="0" i="0">
                <a:solidFill>
                  <a:srgbClr val="5A5651"/>
                </a:solidFill>
                <a:latin typeface="Inter 18pt"/>
              </a:rPr>
              <a:t>Customer master — name, city, gender, email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50972" y="3860504"/>
            <a:ext cx="1334210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55" b="0" i="0">
                <a:solidFill>
                  <a:srgbClr val="A37400"/>
                </a:solidFill>
                <a:latin typeface="Playfair Display"/>
              </a:rPr>
              <a:t>store_details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54682" y="4317514"/>
            <a:ext cx="708046" cy="253358"/>
          </a:xfrm>
          <a:prstGeom prst="rect">
            <a:avLst/>
          </a:prstGeom>
          <a:noFill/>
        </p:spPr>
        <p:txBody>
          <a:bodyPr wrap="none" lIns="106677" tIns="45718" rIns="106677" bIns="45718">
            <a:spAutoFit/>
          </a:bodyPr>
          <a:lstStyle/>
          <a:p>
            <a:pPr algn="ctr"/>
            <a:r>
              <a:rPr sz="980" b="1" i="0">
                <a:solidFill>
                  <a:srgbClr val="B28107"/>
                </a:solidFill>
                <a:latin typeface="Inter 18pt"/>
              </a:rPr>
              <a:t>Parquet</a:t>
            </a:r>
            <a:endParaRPr sz="98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215007" y="4363233"/>
            <a:ext cx="66301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10 records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59435" y="4681271"/>
            <a:ext cx="292425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5" b="0" i="0">
                <a:solidFill>
                  <a:srgbClr val="5A5651"/>
                </a:solidFill>
                <a:latin typeface="Inter 18pt"/>
              </a:rPr>
              <a:t>Store master — city, state, type, area sqft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99396" y="5408725"/>
            <a:ext cx="2023416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55" b="0" i="0">
                <a:solidFill>
                  <a:srgbClr val="A37400"/>
                </a:solidFill>
                <a:latin typeface="Playfair Display"/>
              </a:rPr>
              <a:t>customer_feedback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503107" y="5865735"/>
            <a:ext cx="493888" cy="253358"/>
          </a:xfrm>
          <a:prstGeom prst="rect">
            <a:avLst/>
          </a:prstGeom>
          <a:noFill/>
        </p:spPr>
        <p:txBody>
          <a:bodyPr wrap="none" lIns="106677" tIns="45718" rIns="106677" bIns="45718">
            <a:spAutoFit/>
          </a:bodyPr>
          <a:lstStyle/>
          <a:p>
            <a:pPr algn="ctr"/>
            <a:r>
              <a:rPr sz="980" b="1" i="0">
                <a:solidFill>
                  <a:srgbClr val="B28107"/>
                </a:solidFill>
                <a:latin typeface="Inter 18pt"/>
              </a:rPr>
              <a:t>CSV</a:t>
            </a:r>
            <a:endParaRPr sz="98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149273" y="5911454"/>
            <a:ext cx="98090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30,000 records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30034" y="6229491"/>
            <a:ext cx="287990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5" b="0" i="0">
                <a:solidFill>
                  <a:srgbClr val="5A5651"/>
                </a:solidFill>
                <a:latin typeface="Inter 18pt"/>
              </a:rPr>
              <a:t>Ratings &amp; comments per store (1-5 stars)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50972" y="5408725"/>
            <a:ext cx="1585575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55" b="0" i="0">
                <a:solidFill>
                  <a:srgbClr val="A37400"/>
                </a:solidFill>
                <a:latin typeface="Playfair Display"/>
              </a:rPr>
              <a:t>google_reviews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354682" y="5865735"/>
            <a:ext cx="584076" cy="253358"/>
          </a:xfrm>
          <a:prstGeom prst="rect">
            <a:avLst/>
          </a:prstGeom>
          <a:noFill/>
        </p:spPr>
        <p:txBody>
          <a:bodyPr wrap="none" lIns="106677" tIns="45718" rIns="106677" bIns="45718">
            <a:spAutoFit/>
          </a:bodyPr>
          <a:lstStyle/>
          <a:p>
            <a:pPr algn="ctr"/>
            <a:r>
              <a:rPr sz="980" b="1" i="0">
                <a:solidFill>
                  <a:srgbClr val="B28107"/>
                </a:solidFill>
                <a:latin typeface="Inter 18pt"/>
              </a:rPr>
              <a:t>JSON</a:t>
            </a:r>
            <a:endParaRPr sz="98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091036" y="5911454"/>
            <a:ext cx="94592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15,000 records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08101" y="6229491"/>
            <a:ext cx="2827068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15" b="0" i="0">
                <a:solidFill>
                  <a:srgbClr val="5A5651"/>
                </a:solidFill>
                <a:latin typeface="Inter 18pt"/>
              </a:rPr>
              <a:t>Google review ratings and text per store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1619101"/>
            <a:ext cx="3708350" cy="1585912"/>
          </a:xfrm>
          <a:prstGeom prst="roundRect">
            <a:avLst>
              <a:gd name="adj" fmla="val 9609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140297"/>
            <a:ext cx="853082" cy="253305"/>
          </a:xfrm>
          <a:prstGeom prst="roundRect">
            <a:avLst>
              <a:gd name="adj" fmla="val 30082"/>
            </a:avLst>
          </a:prstGeom>
          <a:solidFill>
            <a:srgbClr val="FBE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86482" y="2140297"/>
            <a:ext cx="1139725" cy="253305"/>
          </a:xfrm>
          <a:prstGeom prst="roundRect">
            <a:avLst>
              <a:gd name="adj" fmla="val 30082"/>
            </a:avLst>
          </a:prstGeom>
          <a:solidFill>
            <a:srgbClr val="FBE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02408" y="2140297"/>
            <a:ext cx="1006673" cy="253305"/>
          </a:xfrm>
          <a:prstGeom prst="roundRect">
            <a:avLst>
              <a:gd name="adj" fmla="val 30082"/>
            </a:avLst>
          </a:prstGeom>
          <a:solidFill>
            <a:srgbClr val="FBE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469802"/>
            <a:ext cx="1027807" cy="253305"/>
          </a:xfrm>
          <a:prstGeom prst="roundRect">
            <a:avLst>
              <a:gd name="adj" fmla="val 30082"/>
            </a:avLst>
          </a:prstGeom>
          <a:solidFill>
            <a:srgbClr val="FBE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61207" y="2469802"/>
            <a:ext cx="1037927" cy="253305"/>
          </a:xfrm>
          <a:prstGeom prst="roundRect">
            <a:avLst>
              <a:gd name="adj" fmla="val 30082"/>
            </a:avLst>
          </a:prstGeom>
          <a:solidFill>
            <a:srgbClr val="FBE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75334" y="2469802"/>
            <a:ext cx="1033611" cy="253305"/>
          </a:xfrm>
          <a:prstGeom prst="roundRect">
            <a:avLst>
              <a:gd name="adj" fmla="val 30082"/>
            </a:avLst>
          </a:prstGeom>
          <a:solidFill>
            <a:srgbClr val="FBE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799308"/>
            <a:ext cx="971698" cy="253305"/>
          </a:xfrm>
          <a:prstGeom prst="roundRect">
            <a:avLst>
              <a:gd name="adj" fmla="val 30082"/>
            </a:avLst>
          </a:prstGeom>
          <a:solidFill>
            <a:srgbClr val="FBE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41750" y="1619101"/>
            <a:ext cx="3708350" cy="1585912"/>
          </a:xfrm>
          <a:prstGeom prst="roundRect">
            <a:avLst>
              <a:gd name="adj" fmla="val 9609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78700" y="1619101"/>
            <a:ext cx="3708350" cy="1585912"/>
          </a:xfrm>
          <a:prstGeom prst="roundRect">
            <a:avLst>
              <a:gd name="adj" fmla="val 9609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4800" y="3326903"/>
            <a:ext cx="11582400" cy="2983706"/>
          </a:xfrm>
          <a:prstGeom prst="roundRect">
            <a:avLst>
              <a:gd name="adj" fmla="val 5107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792" y="285742"/>
            <a:ext cx="4496134" cy="504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60" b="0" i="0">
                <a:solidFill>
                  <a:srgbClr val="B8860B"/>
                </a:solidFill>
                <a:latin typeface="Playfair Display"/>
              </a:rPr>
              <a:t>Data Pipeline Architecture</a:t>
            </a:r>
            <a:endParaRPr sz="2760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792" y="1028674"/>
            <a:ext cx="4203396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80" b="0" i="0">
                <a:solidFill>
                  <a:srgbClr val="5A5651"/>
                </a:solidFill>
                <a:latin typeface="Microsoft YaHei" panose="020B0503020204020204" charset="-122"/>
              </a:rPr>
              <a:t>Medallion Architecture — Bronze → Silver → Gold</a:t>
            </a:r>
            <a:endParaRPr sz="1180" b="0" i="0">
              <a:solidFill>
                <a:srgbClr val="5A5651"/>
              </a:solidFill>
              <a:latin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188" y="1761932"/>
            <a:ext cx="1157258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45" b="0" i="0">
                <a:solidFill>
                  <a:srgbClr val="B8860B"/>
                </a:solidFill>
                <a:latin typeface="Playfair Display"/>
              </a:rPr>
              <a:t>Source Files</a:t>
            </a:r>
            <a:endParaRPr sz="154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129" y="2140213"/>
            <a:ext cx="853180" cy="253358"/>
          </a:xfrm>
          <a:prstGeom prst="rect">
            <a:avLst/>
          </a:prstGeom>
          <a:noFill/>
        </p:spPr>
        <p:txBody>
          <a:bodyPr wrap="none" lIns="91437" tIns="45718" rIns="91437" bIns="45718">
            <a:spAutoFit/>
          </a:bodyPr>
          <a:lstStyle/>
          <a:p>
            <a:pPr algn="l"/>
            <a:r>
              <a:rPr sz="1005" b="0" i="0">
                <a:solidFill>
                  <a:srgbClr val="A37400"/>
                </a:solidFill>
                <a:latin typeface="Inter 18pt"/>
              </a:rPr>
              <a:t>orders.csv</a:t>
            </a:r>
            <a:endParaRPr sz="1005" b="0" i="0">
              <a:solidFill>
                <a:srgbClr val="A37400"/>
              </a:solidFill>
              <a:latin typeface="Inter 18p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86388" y="2140213"/>
            <a:ext cx="1139816" cy="253358"/>
          </a:xfrm>
          <a:prstGeom prst="rect">
            <a:avLst/>
          </a:prstGeom>
          <a:noFill/>
        </p:spPr>
        <p:txBody>
          <a:bodyPr wrap="none" lIns="91437" tIns="45718" rIns="91437" bIns="45718">
            <a:spAutoFit/>
          </a:bodyPr>
          <a:lstStyle/>
          <a:p>
            <a:pPr algn="l"/>
            <a:r>
              <a:rPr sz="1005" b="0" i="0">
                <a:solidFill>
                  <a:srgbClr val="A37400"/>
                </a:solidFill>
                <a:latin typeface="Inter 18pt"/>
              </a:rPr>
              <a:t>customers.xlsx</a:t>
            </a:r>
            <a:endParaRPr sz="1005" b="0" i="0">
              <a:solidFill>
                <a:srgbClr val="A37400"/>
              </a:solidFill>
              <a:latin typeface="Inter 18p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02283" y="2140213"/>
            <a:ext cx="1006767" cy="253358"/>
          </a:xfrm>
          <a:prstGeom prst="rect">
            <a:avLst/>
          </a:prstGeom>
          <a:noFill/>
        </p:spPr>
        <p:txBody>
          <a:bodyPr wrap="none" lIns="91437" tIns="45718" rIns="91437" bIns="45718">
            <a:spAutoFit/>
          </a:bodyPr>
          <a:lstStyle/>
          <a:p>
            <a:pPr algn="l"/>
            <a:r>
              <a:rPr sz="1005" b="0" i="0">
                <a:solidFill>
                  <a:srgbClr val="A37400"/>
                </a:solidFill>
                <a:latin typeface="Inter 18pt"/>
              </a:rPr>
              <a:t>products.csv</a:t>
            </a:r>
            <a:endParaRPr sz="1005" b="0" i="0">
              <a:solidFill>
                <a:srgbClr val="A37400"/>
              </a:solidFill>
              <a:latin typeface="Inter 18p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129" y="2469711"/>
            <a:ext cx="1027900" cy="253358"/>
          </a:xfrm>
          <a:prstGeom prst="rect">
            <a:avLst/>
          </a:prstGeom>
          <a:noFill/>
        </p:spPr>
        <p:txBody>
          <a:bodyPr wrap="none" lIns="91437" tIns="45718" rIns="91437" bIns="45718">
            <a:spAutoFit/>
          </a:bodyPr>
          <a:lstStyle/>
          <a:p>
            <a:pPr algn="l"/>
            <a:r>
              <a:rPr sz="1005" b="0" i="0">
                <a:solidFill>
                  <a:srgbClr val="A37400"/>
                </a:solidFill>
                <a:latin typeface="Inter 18pt"/>
              </a:rPr>
              <a:t>inventory.csv</a:t>
            </a:r>
            <a:endParaRPr sz="1005" b="0" i="0">
              <a:solidFill>
                <a:srgbClr val="A37400"/>
              </a:solidFill>
              <a:latin typeface="Inter 18p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61108" y="2469711"/>
            <a:ext cx="1038020" cy="253358"/>
          </a:xfrm>
          <a:prstGeom prst="rect">
            <a:avLst/>
          </a:prstGeom>
          <a:noFill/>
        </p:spPr>
        <p:txBody>
          <a:bodyPr wrap="none" lIns="91437" tIns="45718" rIns="91437" bIns="45718">
            <a:spAutoFit/>
          </a:bodyPr>
          <a:lstStyle/>
          <a:p>
            <a:pPr algn="l"/>
            <a:r>
              <a:rPr sz="1005" b="0" i="0">
                <a:solidFill>
                  <a:srgbClr val="A37400"/>
                </a:solidFill>
                <a:latin typeface="Inter 18pt"/>
              </a:rPr>
              <a:t>feedback.csv</a:t>
            </a:r>
            <a:endParaRPr sz="1005" b="0" i="0">
              <a:solidFill>
                <a:srgbClr val="A37400"/>
              </a:solidFill>
              <a:latin typeface="Inter 18p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75207" y="2469711"/>
            <a:ext cx="1033704" cy="253358"/>
          </a:xfrm>
          <a:prstGeom prst="rect">
            <a:avLst/>
          </a:prstGeom>
          <a:noFill/>
        </p:spPr>
        <p:txBody>
          <a:bodyPr wrap="none" lIns="91437" tIns="45718" rIns="91437" bIns="45718">
            <a:spAutoFit/>
          </a:bodyPr>
          <a:lstStyle/>
          <a:p>
            <a:pPr algn="l"/>
            <a:r>
              <a:rPr sz="1005" b="0" i="0">
                <a:solidFill>
                  <a:srgbClr val="A37400"/>
                </a:solidFill>
                <a:latin typeface="Inter 18pt"/>
              </a:rPr>
              <a:t>store.parquet</a:t>
            </a:r>
            <a:endParaRPr sz="1005" b="0" i="0">
              <a:solidFill>
                <a:srgbClr val="A37400"/>
              </a:solidFill>
              <a:latin typeface="Inter 18p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129" y="2799208"/>
            <a:ext cx="971793" cy="253358"/>
          </a:xfrm>
          <a:prstGeom prst="rect">
            <a:avLst/>
          </a:prstGeom>
          <a:noFill/>
        </p:spPr>
        <p:txBody>
          <a:bodyPr wrap="none" lIns="91437" tIns="45718" rIns="91437" bIns="45718">
            <a:spAutoFit/>
          </a:bodyPr>
          <a:lstStyle/>
          <a:p>
            <a:pPr algn="l"/>
            <a:r>
              <a:rPr sz="1005" b="0" i="0">
                <a:solidFill>
                  <a:srgbClr val="A37400"/>
                </a:solidFill>
                <a:latin typeface="Inter 18pt"/>
              </a:rPr>
              <a:t>reviews.json</a:t>
            </a:r>
            <a:endParaRPr sz="1005" b="0" i="0">
              <a:solidFill>
                <a:srgbClr val="A37400"/>
              </a:solidFill>
              <a:latin typeface="Inter 18p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94040" y="1761932"/>
            <a:ext cx="1267983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45" b="0" i="0">
                <a:solidFill>
                  <a:srgbClr val="B8860B"/>
                </a:solidFill>
                <a:latin typeface="Playfair Display"/>
              </a:rPr>
              <a:t>Bronze Layer</a:t>
            </a:r>
            <a:endParaRPr sz="154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94040" y="2149768"/>
            <a:ext cx="184125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35" b="1" i="0">
                <a:solidFill>
                  <a:srgbClr val="B28107"/>
                </a:solidFill>
                <a:latin typeface="Inter 18pt"/>
              </a:rPr>
              <a:t>Process:</a:t>
            </a:r>
            <a:r>
              <a:rPr sz="1060" b="0" i="0">
                <a:solidFill>
                  <a:srgbClr val="5A5651"/>
                </a:solidFill>
                <a:latin typeface="Inter 18pt"/>
              </a:rPr>
              <a:t> load_to_bronze.py</a:t>
            </a:r>
            <a:endParaRPr sz="106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94040" y="2413336"/>
            <a:ext cx="3366110" cy="3836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5" b="1" i="0">
                <a:solidFill>
                  <a:srgbClr val="B28107"/>
                </a:solidFill>
                <a:latin typeface="Inter 18pt"/>
              </a:rPr>
              <a:t>Features:</a:t>
            </a:r>
            <a:r>
              <a:rPr sz="1060" b="0" i="0">
                <a:solidFill>
                  <a:srgbClr val="5A5651"/>
                </a:solidFill>
                <a:latin typeface="Inter 18pt"/>
              </a:rPr>
              <a:t> Append-only, raw data as-is, source_file tracked, is_processed flag, FILE_LOAD_LOG</a:t>
            </a:r>
            <a:endParaRPr sz="106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30892" y="1761932"/>
            <a:ext cx="1131214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45" b="0" i="0">
                <a:solidFill>
                  <a:srgbClr val="B8860B"/>
                </a:solidFill>
                <a:latin typeface="Playfair Display"/>
              </a:rPr>
              <a:t>Silver Layer</a:t>
            </a:r>
            <a:endParaRPr sz="154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30892" y="2149768"/>
            <a:ext cx="1290158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35" b="1" i="0">
                <a:solidFill>
                  <a:srgbClr val="B28107"/>
                </a:solidFill>
                <a:latin typeface="Inter 18pt"/>
              </a:rPr>
              <a:t>Process:</a:t>
            </a:r>
            <a:r>
              <a:rPr sz="1060" b="0" i="0">
                <a:solidFill>
                  <a:srgbClr val="5A5651"/>
                </a:solidFill>
                <a:latin typeface="Inter 18pt"/>
              </a:rPr>
              <a:t> Silver SPs</a:t>
            </a:r>
            <a:endParaRPr sz="106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30892" y="2413336"/>
            <a:ext cx="3314170" cy="3836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5" b="1" i="0">
                <a:solidFill>
                  <a:srgbClr val="B28107"/>
                </a:solidFill>
                <a:latin typeface="Inter 18pt"/>
              </a:rPr>
              <a:t>Features:</a:t>
            </a:r>
            <a:r>
              <a:rPr sz="1060" b="0" i="0">
                <a:solidFill>
                  <a:srgbClr val="5A5651"/>
                </a:solidFill>
                <a:latin typeface="Inter 18pt"/>
              </a:rPr>
              <a:t> Watermark-based, incremental MERGE, cleaned &amp; typed, created_at / updated_at</a:t>
            </a:r>
            <a:endParaRPr sz="106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188" y="3469692"/>
            <a:ext cx="2512900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45" b="0" i="0">
                <a:solidFill>
                  <a:srgbClr val="B8860B"/>
                </a:solidFill>
                <a:latin typeface="Playfair Display"/>
              </a:rPr>
              <a:t>Gold Layer — Star Schema</a:t>
            </a:r>
            <a:endParaRPr sz="154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188" y="3857528"/>
            <a:ext cx="478128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35" b="1" i="0">
                <a:solidFill>
                  <a:srgbClr val="B28107"/>
                </a:solidFill>
                <a:latin typeface="Inter 18pt"/>
              </a:rPr>
              <a:t>Dimensions:</a:t>
            </a:r>
            <a:r>
              <a:rPr sz="1060" b="0" i="0">
                <a:solidFill>
                  <a:srgbClr val="5A5651"/>
                </a:solidFill>
                <a:latin typeface="Inter 18pt"/>
              </a:rPr>
              <a:t> DIM_DATE, DIM_PRODUCT, DIM_CUSTOMER, DIM_STORE</a:t>
            </a:r>
            <a:endParaRPr sz="106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60357" y="3857528"/>
            <a:ext cx="597202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35" b="1" i="0">
                <a:solidFill>
                  <a:srgbClr val="B28107"/>
                </a:solidFill>
                <a:latin typeface="Inter 18pt"/>
              </a:rPr>
              <a:t>Facts:</a:t>
            </a:r>
            <a:r>
              <a:rPr sz="1060" b="0" i="0">
                <a:solidFill>
                  <a:srgbClr val="5A5651"/>
                </a:solidFill>
                <a:latin typeface="Inter 18pt"/>
              </a:rPr>
              <a:t> FACT_SALES (revenue, qty), FACT_INVENTORY (stock), FACT_FEEDBACK (ratings)</a:t>
            </a:r>
            <a:endParaRPr sz="106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188" y="4182114"/>
            <a:ext cx="299657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35" b="1" i="0">
                <a:solidFill>
                  <a:srgbClr val="B28107"/>
                </a:solidFill>
                <a:latin typeface="Inter 18pt"/>
              </a:rPr>
              <a:t>Output:</a:t>
            </a:r>
            <a:r>
              <a:rPr sz="1060" b="0" i="0">
                <a:solidFill>
                  <a:srgbClr val="5A5651"/>
                </a:solidFill>
                <a:latin typeface="Inter 18pt"/>
              </a:rPr>
              <a:t> </a:t>
            </a:r>
            <a:r>
              <a:rPr sz="935" b="0" i="0">
                <a:solidFill>
                  <a:srgbClr val="5A5651"/>
                </a:solidFill>
                <a:latin typeface="Microsoft YaHei" panose="020B0503020204020204" charset="-122"/>
              </a:rPr>
              <a:t>Reporting Views → Charts &amp; BI Tools</a:t>
            </a:r>
            <a:endParaRPr sz="935" b="0" i="0">
              <a:solidFill>
                <a:srgbClr val="5A5651"/>
              </a:solidFill>
              <a:latin typeface="Microsoft YaHei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188" y="4497175"/>
            <a:ext cx="1943200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40" b="1" i="0">
                <a:solidFill>
                  <a:srgbClr val="B28107"/>
                </a:solidFill>
                <a:latin typeface="Times New Roman" panose="02020603050405020304"/>
              </a:rPr>
              <a:t>Silver SP Watermark Logic:</a:t>
            </a:r>
            <a:endParaRPr sz="1140" b="1" i="0">
              <a:solidFill>
                <a:srgbClr val="B28107"/>
              </a:solidFill>
              <a:latin typeface="Times New Roman" panose="020206030504050203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188" y="4786639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B8860B"/>
                </a:solidFill>
                <a:latin typeface="Playfair Display"/>
              </a:rPr>
              <a:t>1.</a:t>
            </a:r>
            <a:endParaRPr sz="97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7670" y="4786639"/>
            <a:ext cx="3449005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Read MAX(updated_at) from Silver table as watermark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188" y="5022823"/>
            <a:ext cx="10581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B8860B"/>
                </a:solidFill>
                <a:latin typeface="Playfair Display"/>
              </a:rPr>
              <a:t>2.</a:t>
            </a:r>
            <a:endParaRPr sz="97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670" y="5022823"/>
            <a:ext cx="480568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Pick Bronze rows where loaded_at &gt; watermark AND is_processed = FALSE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188" y="5259007"/>
            <a:ext cx="101795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B8860B"/>
                </a:solidFill>
                <a:latin typeface="Playfair Display"/>
              </a:rPr>
              <a:t>3.</a:t>
            </a:r>
            <a:endParaRPr sz="97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7670" y="5259007"/>
            <a:ext cx="358562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MERGE rows into Silver (INSERT new / UPDATE existing)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188" y="5495192"/>
            <a:ext cx="10804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B8860B"/>
                </a:solidFill>
                <a:latin typeface="Playfair Display"/>
              </a:rPr>
              <a:t>4.</a:t>
            </a:r>
            <a:endParaRPr sz="97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7670" y="5495192"/>
            <a:ext cx="334200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Set is_processed = TRUE on processed Bronze rows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188" y="5731376"/>
            <a:ext cx="9658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B8860B"/>
                </a:solidFill>
                <a:latin typeface="Playfair Display"/>
              </a:rPr>
              <a:t>5.</a:t>
            </a:r>
            <a:endParaRPr sz="97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7670" y="5731376"/>
            <a:ext cx="2376874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DELETE processed rows from Bronze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188" y="5967560"/>
            <a:ext cx="11132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B8860B"/>
                </a:solidFill>
                <a:latin typeface="Playfair Display"/>
              </a:rPr>
              <a:t>6.</a:t>
            </a:r>
            <a:endParaRPr sz="97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7670" y="5967560"/>
            <a:ext cx="205630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Log run to SP_EXECUTION_LOG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657350" y="1512540"/>
            <a:ext cx="2857500" cy="2011263"/>
          </a:xfrm>
          <a:prstGeom prst="roundRect">
            <a:avLst>
              <a:gd name="adj" fmla="val 7577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9714" y="1719069"/>
            <a:ext cx="333377" cy="3333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667250" y="1512540"/>
            <a:ext cx="2857500" cy="2239863"/>
          </a:xfrm>
          <a:prstGeom prst="roundRect">
            <a:avLst>
              <a:gd name="adj" fmla="val 6803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9500" y="1695258"/>
            <a:ext cx="333386" cy="3809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77150" y="1512540"/>
            <a:ext cx="2857500" cy="2239863"/>
          </a:xfrm>
          <a:prstGeom prst="roundRect">
            <a:avLst>
              <a:gd name="adj" fmla="val 6803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9364" y="1695258"/>
            <a:ext cx="333366" cy="3809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657350" y="3904803"/>
            <a:ext cx="2857500" cy="2011263"/>
          </a:xfrm>
          <a:prstGeom prst="roundRect">
            <a:avLst>
              <a:gd name="adj" fmla="val 7577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3526" y="4087462"/>
            <a:ext cx="285742" cy="38099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667250" y="3904803"/>
            <a:ext cx="2857500" cy="2011263"/>
          </a:xfrm>
          <a:prstGeom prst="roundRect">
            <a:avLst>
              <a:gd name="adj" fmla="val 7577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95742" y="4125528"/>
            <a:ext cx="380960" cy="3048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77150" y="3904803"/>
            <a:ext cx="2857500" cy="2011263"/>
          </a:xfrm>
          <a:prstGeom prst="roundRect">
            <a:avLst>
              <a:gd name="adj" fmla="val 7577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05552" y="4111274"/>
            <a:ext cx="380990" cy="3333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12068" y="285742"/>
            <a:ext cx="2967558" cy="504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760" b="0" i="0">
                <a:solidFill>
                  <a:srgbClr val="B8860B"/>
                </a:solidFill>
                <a:latin typeface="Playfair Display"/>
              </a:rPr>
              <a:t>Technology Stack</a:t>
            </a:r>
            <a:endParaRPr sz="2760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26175" y="952476"/>
            <a:ext cx="6539195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40" b="0" i="0">
                <a:solidFill>
                  <a:srgbClr val="5A5651"/>
                </a:solidFill>
                <a:latin typeface="Inter 18pt"/>
              </a:rPr>
              <a:t>Enterprise-grade tools and technologies powering the complete data pipeline</a:t>
            </a:r>
            <a:endParaRPr sz="134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85902" y="2198136"/>
            <a:ext cx="726114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55" b="0" i="0">
                <a:solidFill>
                  <a:srgbClr val="A37400"/>
                </a:solidFill>
                <a:latin typeface="Playfair Display"/>
              </a:rPr>
              <a:t>Python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85902" y="2603831"/>
            <a:ext cx="108448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0" b="1" i="0">
                <a:solidFill>
                  <a:srgbClr val="B28107"/>
                </a:solidFill>
                <a:latin typeface="Inter 18pt"/>
              </a:rPr>
              <a:t>Core Language</a:t>
            </a:r>
            <a:endParaRPr sz="109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902" y="2902819"/>
            <a:ext cx="2129379" cy="419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Core language for file loading, transformation and charting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95727" y="2198136"/>
            <a:ext cx="1048914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55" b="0" i="0">
                <a:solidFill>
                  <a:srgbClr val="A37400"/>
                </a:solidFill>
                <a:latin typeface="Playfair Display"/>
              </a:rPr>
              <a:t>Snowflake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95727" y="2603831"/>
            <a:ext cx="162650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0" b="1" i="0">
                <a:solidFill>
                  <a:srgbClr val="B28107"/>
                </a:solidFill>
                <a:latin typeface="Inter 18pt"/>
              </a:rPr>
              <a:t>Cloud Data Warehouse</a:t>
            </a:r>
            <a:endParaRPr sz="109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95727" y="2902819"/>
            <a:ext cx="2298146" cy="647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Cloud Data Warehouse — stores all Bronze, Silver and Gold layer data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05552" y="2198136"/>
            <a:ext cx="732067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55" b="0" i="0">
                <a:solidFill>
                  <a:srgbClr val="A37400"/>
                </a:solidFill>
                <a:latin typeface="Playfair Display"/>
              </a:rPr>
              <a:t>pandas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05552" y="2603831"/>
            <a:ext cx="115443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0" b="1" i="0">
                <a:solidFill>
                  <a:srgbClr val="B28107"/>
                </a:solidFill>
                <a:latin typeface="Inter 18pt"/>
              </a:rPr>
              <a:t>Data Processing</a:t>
            </a:r>
            <a:endParaRPr sz="109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05552" y="2902819"/>
            <a:ext cx="2318386" cy="647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Read CSV, Excel, Parquet, JSON files and prepare DataFrames for load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85902" y="4590339"/>
            <a:ext cx="1309952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55" b="0" i="0">
                <a:solidFill>
                  <a:srgbClr val="A37400"/>
                </a:solidFill>
                <a:latin typeface="Playfair Display"/>
              </a:rPr>
              <a:t>SQLAlchemy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85902" y="4996035"/>
            <a:ext cx="145594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0" b="1" i="0">
                <a:solidFill>
                  <a:srgbClr val="B28107"/>
                </a:solidFill>
                <a:latin typeface="Inter 18pt"/>
              </a:rPr>
              <a:t>Database Connector</a:t>
            </a:r>
            <a:endParaRPr sz="109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85902" y="5295023"/>
            <a:ext cx="2291895" cy="419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5" b="0" i="0">
                <a:solidFill>
                  <a:srgbClr val="5A5651"/>
                </a:solidFill>
                <a:latin typeface="Microsoft YaHei" panose="020B0503020204020204" charset="-122"/>
              </a:rPr>
              <a:t>Python → Snowflake connection for DataFrame.to_sql() inserts</a:t>
            </a:r>
            <a:endParaRPr sz="985" b="0" i="0">
              <a:solidFill>
                <a:srgbClr val="5A5651"/>
              </a:solidFill>
              <a:latin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95727" y="4590339"/>
            <a:ext cx="982538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55" b="0" i="0">
                <a:solidFill>
                  <a:srgbClr val="A37400"/>
                </a:solidFill>
                <a:latin typeface="Playfair Display"/>
              </a:rPr>
              <a:t>SQL / SPs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95727" y="4996035"/>
            <a:ext cx="1500298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0" b="1" i="0">
                <a:solidFill>
                  <a:srgbClr val="B28107"/>
                </a:solidFill>
                <a:latin typeface="Inter 18pt"/>
              </a:rPr>
              <a:t>Transformation Logic</a:t>
            </a:r>
            <a:endParaRPr sz="109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95727" y="5295023"/>
            <a:ext cx="2355741" cy="419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Stored Procedures for all data transformation logic in Snowflake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05552" y="4590339"/>
            <a:ext cx="1060969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55" b="0" i="0">
                <a:solidFill>
                  <a:srgbClr val="A37400"/>
                </a:solidFill>
                <a:latin typeface="Playfair Display"/>
              </a:rPr>
              <a:t>matplotlib</a:t>
            </a:r>
            <a:endParaRPr sz="1655" b="0" i="0">
              <a:solidFill>
                <a:srgbClr val="A37400"/>
              </a:solidFill>
              <a:latin typeface="Playfair Display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05552" y="4996035"/>
            <a:ext cx="891458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0" b="1" i="0">
                <a:solidFill>
                  <a:srgbClr val="B28107"/>
                </a:solidFill>
                <a:latin typeface="Inter 18pt"/>
              </a:rPr>
              <a:t>Visualization</a:t>
            </a:r>
            <a:endParaRPr sz="1090" b="1" i="0">
              <a:solidFill>
                <a:srgbClr val="B28107"/>
              </a:solidFill>
              <a:latin typeface="Inter 18p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05552" y="5295023"/>
            <a:ext cx="2293384" cy="419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Generate bar, pie and line charts from Gold layer data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310201" y="6144513"/>
            <a:ext cx="757129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5" b="0" i="0">
                <a:solidFill>
                  <a:srgbClr val="5A5651"/>
                </a:solidFill>
                <a:latin typeface="Inter 18pt"/>
              </a:rPr>
              <a:t>Install: pip install snowflake-connector-python snowflake-sqlalchemy pandas openpyxl pyarrow matplotlib python-pptx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19125" y="1703486"/>
            <a:ext cx="3529458" cy="1590377"/>
          </a:xfrm>
          <a:prstGeom prst="roundRect">
            <a:avLst>
              <a:gd name="adj" fmla="val 9582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05" y="2260940"/>
            <a:ext cx="91378" cy="9137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05" y="2500101"/>
            <a:ext cx="91378" cy="9137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05" y="2739261"/>
            <a:ext cx="91378" cy="9137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05" y="2978422"/>
            <a:ext cx="91378" cy="913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31344" y="1703486"/>
            <a:ext cx="3529458" cy="1590377"/>
          </a:xfrm>
          <a:prstGeom prst="roundRect">
            <a:avLst>
              <a:gd name="adj" fmla="val 9582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3632" y="2260940"/>
            <a:ext cx="91378" cy="9137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3632" y="2500101"/>
            <a:ext cx="91378" cy="9137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3632" y="2739261"/>
            <a:ext cx="91378" cy="9137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3632" y="2978422"/>
            <a:ext cx="91378" cy="9137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43564" y="1703486"/>
            <a:ext cx="3529458" cy="1590377"/>
          </a:xfrm>
          <a:prstGeom prst="roundRect">
            <a:avLst>
              <a:gd name="adj" fmla="val 9582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5759" y="2260940"/>
            <a:ext cx="91378" cy="9137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5759" y="2500101"/>
            <a:ext cx="91378" cy="9137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5759" y="2739261"/>
            <a:ext cx="91378" cy="91378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5759" y="2978422"/>
            <a:ext cx="91378" cy="9137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19125" y="3476625"/>
            <a:ext cx="3630959" cy="1590377"/>
          </a:xfrm>
          <a:prstGeom prst="roundRect">
            <a:avLst>
              <a:gd name="adj" fmla="val 9582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05" y="4034034"/>
            <a:ext cx="91378" cy="9137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05" y="4273195"/>
            <a:ext cx="91378" cy="91378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05" y="4512355"/>
            <a:ext cx="91378" cy="91378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05" y="4751516"/>
            <a:ext cx="91378" cy="9137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432845" y="3476625"/>
            <a:ext cx="3630959" cy="1590377"/>
          </a:xfrm>
          <a:prstGeom prst="roundRect">
            <a:avLst>
              <a:gd name="adj" fmla="val 9582"/>
            </a:avLst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5130" y="4034034"/>
            <a:ext cx="91378" cy="91378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5130" y="4273195"/>
            <a:ext cx="91378" cy="91378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5130" y="4512355"/>
            <a:ext cx="91378" cy="91378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5130" y="4751516"/>
            <a:ext cx="91378" cy="9137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72043" y="504961"/>
            <a:ext cx="5847459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25" b="0" i="0">
                <a:solidFill>
                  <a:srgbClr val="B8860B"/>
                </a:solidFill>
                <a:latin typeface="Playfair Display"/>
              </a:rPr>
              <a:t>Business Metrics &amp; Insights Generated</a:t>
            </a:r>
            <a:endParaRPr sz="242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85883" y="1173778"/>
            <a:ext cx="5819927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25" b="0" i="0">
                <a:solidFill>
                  <a:srgbClr val="5A5651"/>
                </a:solidFill>
                <a:latin typeface="Inter 18pt"/>
              </a:rPr>
              <a:t>Comprehensive business intelligence across five key analytical dimensions</a:t>
            </a:r>
            <a:endParaRPr sz="122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1505" y="1867150"/>
            <a:ext cx="1470236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5" b="0" i="0">
                <a:solidFill>
                  <a:srgbClr val="B8860B"/>
                </a:solidFill>
                <a:latin typeface="Playfair Display"/>
              </a:rPr>
              <a:t>Sales &amp; Revenue</a:t>
            </a:r>
            <a:endParaRPr sz="143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3753" y="2215251"/>
            <a:ext cx="210035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Total revenue by store, city, state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3753" y="2454412"/>
            <a:ext cx="1879205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Revenue by product category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23753" y="2693572"/>
            <a:ext cx="275459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Revenue by store type (Mall vs High Street)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3753" y="2932733"/>
            <a:ext cx="206449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Monthly revenue trend over time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83632" y="1867150"/>
            <a:ext cx="1669065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5" b="0" i="0">
                <a:solidFill>
                  <a:srgbClr val="B8860B"/>
                </a:solidFill>
                <a:latin typeface="Playfair Display"/>
              </a:rPr>
              <a:t>Store Performance</a:t>
            </a:r>
            <a:endParaRPr sz="143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635880" y="2215251"/>
            <a:ext cx="175196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Store-wise revenue ranking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35880" y="2454412"/>
            <a:ext cx="236883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Average revenue per store per month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35880" y="2693572"/>
            <a:ext cx="166802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Revenue per sq ft by store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35880" y="2932733"/>
            <a:ext cx="230409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Store type performance comparison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95759" y="1867150"/>
            <a:ext cx="1639747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5" b="0" i="0">
                <a:solidFill>
                  <a:srgbClr val="B8860B"/>
                </a:solidFill>
                <a:latin typeface="Playfair Display"/>
              </a:rPr>
              <a:t>Customer Insights</a:t>
            </a:r>
            <a:endParaRPr sz="143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48007" y="2215251"/>
            <a:ext cx="199022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City-wise customer distribution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48007" y="2454412"/>
            <a:ext cx="193769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Gender split across customers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48007" y="2693572"/>
            <a:ext cx="208547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Customer signup trend over time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48007" y="2932733"/>
            <a:ext cx="197088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Revenue by customer segment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71505" y="3640244"/>
            <a:ext cx="863925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5" b="0" i="0">
                <a:solidFill>
                  <a:srgbClr val="B8860B"/>
                </a:solidFill>
                <a:latin typeface="Playfair Display"/>
              </a:rPr>
              <a:t>Inventory</a:t>
            </a:r>
            <a:endParaRPr sz="143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753" y="3988345"/>
            <a:ext cx="217611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Stock levels per store and product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3753" y="4227505"/>
            <a:ext cx="196894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Opening vs closing stock trend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23753" y="4466666"/>
            <a:ext cx="200555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Products with low closing stock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23753" y="4705827"/>
            <a:ext cx="171892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Inventory turnover by store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85130" y="3640244"/>
            <a:ext cx="1822801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5" b="0" i="0">
                <a:solidFill>
                  <a:srgbClr val="B8860B"/>
                </a:solidFill>
                <a:latin typeface="Playfair Display"/>
              </a:rPr>
              <a:t>Feedback &amp; Reviews</a:t>
            </a:r>
            <a:endParaRPr sz="143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737378" y="3988345"/>
            <a:ext cx="221153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Average rating per store (1-5 stars)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737378" y="4227505"/>
            <a:ext cx="189602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Rating distribution breakdown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737378" y="4466666"/>
            <a:ext cx="171490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Feedback channel analysis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37378" y="4705827"/>
            <a:ext cx="214783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5" b="0" i="0">
                <a:solidFill>
                  <a:srgbClr val="5A5651"/>
                </a:solidFill>
                <a:latin typeface="Inter 18pt"/>
              </a:rPr>
              <a:t>Google reviews vs internal ratings</a:t>
            </a:r>
            <a:endParaRPr sz="1005" b="0" i="0">
              <a:solidFill>
                <a:srgbClr val="5A5651"/>
              </a:solidFill>
              <a:latin typeface="Inter 18p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792" y="285742"/>
            <a:ext cx="4385706" cy="504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60" b="0" i="0">
                <a:solidFill>
                  <a:srgbClr val="B8860B"/>
                </a:solidFill>
                <a:latin typeface="Playfair Display"/>
              </a:rPr>
              <a:t>Sample Insights — Charts</a:t>
            </a:r>
            <a:endParaRPr sz="2760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792" y="1028674"/>
            <a:ext cx="7160537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40" b="0" i="0">
                <a:solidFill>
                  <a:srgbClr val="5A5651"/>
                </a:solidFill>
                <a:latin typeface="Inter 18pt"/>
              </a:rPr>
              <a:t>Illustrative data visualizations from the Gold layer demonstrating key business trends</a:t>
            </a:r>
            <a:endParaRPr sz="1340" b="0" i="0">
              <a:solidFill>
                <a:srgbClr val="5A5651"/>
              </a:solidFill>
              <a:latin typeface="Inter 18pt"/>
            </a:endParaRPr>
          </a:p>
        </p:txBody>
      </p:sp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306280" y="1927722"/>
          <a:ext cx="3705132" cy="4286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43132" y="1927722"/>
          <a:ext cx="3705132" cy="4286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179984" y="1927722"/>
          <a:ext cx="3705132" cy="4286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792" y="1718028"/>
            <a:ext cx="91378" cy="9137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792" y="2038001"/>
            <a:ext cx="91378" cy="913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792" y="2357973"/>
            <a:ext cx="91378" cy="9137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792" y="2677946"/>
            <a:ext cx="91378" cy="9137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792" y="2997918"/>
            <a:ext cx="91378" cy="9137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792" y="3317891"/>
            <a:ext cx="91378" cy="9137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093" y="1718028"/>
            <a:ext cx="91378" cy="9137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093" y="2038001"/>
            <a:ext cx="91378" cy="9137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093" y="2357973"/>
            <a:ext cx="91378" cy="9137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093" y="2677946"/>
            <a:ext cx="91378" cy="9137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093" y="2997918"/>
            <a:ext cx="91378" cy="9137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093" y="3317891"/>
            <a:ext cx="91378" cy="9137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394" y="1718028"/>
            <a:ext cx="91378" cy="9137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394" y="2038001"/>
            <a:ext cx="91378" cy="9137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394" y="2357973"/>
            <a:ext cx="91378" cy="91378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394" y="2677946"/>
            <a:ext cx="91378" cy="91378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394" y="2997918"/>
            <a:ext cx="91378" cy="91378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394" y="3317891"/>
            <a:ext cx="91378" cy="9137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74693" y="285742"/>
            <a:ext cx="3442308" cy="504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760" b="0" i="0">
                <a:solidFill>
                  <a:srgbClr val="B8860B"/>
                </a:solidFill>
                <a:latin typeface="Playfair Display"/>
              </a:rPr>
              <a:t>What You Will Learn</a:t>
            </a:r>
            <a:endParaRPr sz="2760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43725" y="1076298"/>
            <a:ext cx="1779493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30" b="1" i="0">
                <a:solidFill>
                  <a:srgbClr val="B8860B"/>
                </a:solidFill>
                <a:latin typeface="Playfair Display"/>
              </a:rPr>
              <a:t>Data Engineering</a:t>
            </a:r>
            <a:endParaRPr sz="153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2368" y="1676209"/>
            <a:ext cx="210824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Medallion Architecture design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2368" y="1996181"/>
            <a:ext cx="271991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Incremental pipelines with watermarks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2368" y="2316154"/>
            <a:ext cx="2074165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Snowflake stored procedures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2368" y="2636126"/>
            <a:ext cx="237449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5" b="0" i="0">
                <a:solidFill>
                  <a:srgbClr val="5A5651"/>
                </a:solidFill>
                <a:latin typeface="Microsoft YaHei" panose="020B0503020204020204" charset="-122"/>
              </a:rPr>
              <a:t>Python → Snowflake data loading</a:t>
            </a:r>
            <a:endParaRPr sz="985" b="0" i="0">
              <a:solidFill>
                <a:srgbClr val="5A5651"/>
              </a:solidFill>
              <a:latin typeface="Microsoft YaHei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2368" y="2956099"/>
            <a:ext cx="232582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Error handling &amp; logging patterns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2368" y="3276071"/>
            <a:ext cx="141889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Star Schema design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13934" y="1076298"/>
            <a:ext cx="1363826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30" b="1" i="0">
                <a:solidFill>
                  <a:srgbClr val="B8860B"/>
                </a:solidFill>
                <a:latin typeface="Playfair Display"/>
              </a:rPr>
              <a:t>Data Analysis</a:t>
            </a:r>
            <a:endParaRPr sz="153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34669" y="1676209"/>
            <a:ext cx="231392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Analysing 100,000+ transactions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34669" y="1996181"/>
            <a:ext cx="262630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Store &amp; product performance metrics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34669" y="2316154"/>
            <a:ext cx="230826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Customer segmentation analysis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34669" y="2636126"/>
            <a:ext cx="218414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Feedback &amp; sentiment analysis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34669" y="2956099"/>
            <a:ext cx="221391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Working with multi-source data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434669" y="3276071"/>
            <a:ext cx="167189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Joining across datasets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87545" y="1076298"/>
            <a:ext cx="1341056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30" b="1" i="0">
                <a:solidFill>
                  <a:srgbClr val="B8860B"/>
                </a:solidFill>
                <a:latin typeface="Playfair Display"/>
              </a:rPr>
              <a:t>Tools &amp; Tech</a:t>
            </a:r>
            <a:endParaRPr sz="153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96970" y="1676209"/>
            <a:ext cx="253596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Snowflake — cloud data warehouse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96970" y="1996181"/>
            <a:ext cx="209857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Python: pandas, SQLAlchemy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96970" y="2316154"/>
            <a:ext cx="155610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matplotlib for charting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96970" y="2636126"/>
            <a:ext cx="224203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SQL: MERGE, window functions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96970" y="2956099"/>
            <a:ext cx="179958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python-pptx for reporting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96970" y="3276071"/>
            <a:ext cx="187935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0">
                <a:solidFill>
                  <a:srgbClr val="5A5651"/>
                </a:solidFill>
                <a:latin typeface="Inter 18pt"/>
              </a:rPr>
              <a:t>Git-ready project structure</a:t>
            </a:r>
            <a:endParaRPr sz="1115" b="0" i="0">
              <a:solidFill>
                <a:srgbClr val="5A5651"/>
              </a:solidFill>
              <a:latin typeface="Inter 18p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04800" y="963810"/>
            <a:ext cx="457200" cy="457200"/>
          </a:xfrm>
          <a:prstGeom prst="ellipse">
            <a:avLst/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4800" y="1715095"/>
            <a:ext cx="457200" cy="457200"/>
          </a:xfrm>
          <a:prstGeom prst="ellipse">
            <a:avLst/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4760" y="2083742"/>
            <a:ext cx="2183308" cy="376386"/>
          </a:xfrm>
          <a:prstGeom prst="roundRect">
            <a:avLst>
              <a:gd name="adj" fmla="val 20245"/>
            </a:avLst>
          </a:prstGeom>
          <a:solidFill>
            <a:srgbClr val="F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4800" y="3497460"/>
            <a:ext cx="457200" cy="457200"/>
          </a:xfrm>
          <a:prstGeom prst="ellipse">
            <a:avLst/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4760" y="3866108"/>
            <a:ext cx="2340768" cy="376386"/>
          </a:xfrm>
          <a:prstGeom prst="roundRect">
            <a:avLst>
              <a:gd name="adj" fmla="val 20245"/>
            </a:avLst>
          </a:prstGeom>
          <a:solidFill>
            <a:srgbClr val="F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4800" y="5279826"/>
            <a:ext cx="457200" cy="457200"/>
          </a:xfrm>
          <a:prstGeom prst="ellipse">
            <a:avLst/>
          </a:prstGeom>
          <a:solidFill>
            <a:srgbClr val="F5E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792" y="285742"/>
            <a:ext cx="4121245" cy="5048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60" b="0" i="0">
                <a:solidFill>
                  <a:srgbClr val="B8860B"/>
                </a:solidFill>
                <a:latin typeface="Playfair Display"/>
              </a:rPr>
              <a:t>How to Run the Pipeline</a:t>
            </a:r>
            <a:endParaRPr sz="2760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8144" y="1030460"/>
            <a:ext cx="91440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30" b="1" i="0">
                <a:solidFill>
                  <a:srgbClr val="B8860B"/>
                </a:solidFill>
                <a:latin typeface="Playfair Display"/>
              </a:rPr>
              <a:t>1</a:t>
            </a:r>
            <a:endParaRPr sz="163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4737" y="954262"/>
            <a:ext cx="1819080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45" b="0" i="0">
                <a:solidFill>
                  <a:srgbClr val="B8860B"/>
                </a:solidFill>
                <a:latin typeface="Playfair Display"/>
              </a:rPr>
              <a:t>Name &amp; Drop Files</a:t>
            </a:r>
            <a:endParaRPr sz="154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4737" y="1311589"/>
            <a:ext cx="6694121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" b="0" i="0">
                <a:solidFill>
                  <a:srgbClr val="5A5651"/>
                </a:solidFill>
                <a:latin typeface="Inter 18pt"/>
              </a:rPr>
              <a:t>Name files with timestamp: orders_20260501_090000.csv. Drop into Datasets/stg/</a:t>
            </a:r>
            <a:endParaRPr sz="128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4898" y="1781725"/>
            <a:ext cx="116827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30" b="1" i="0">
                <a:solidFill>
                  <a:srgbClr val="B8860B"/>
                </a:solidFill>
                <a:latin typeface="Playfair Display"/>
              </a:rPr>
              <a:t>2</a:t>
            </a:r>
            <a:endParaRPr sz="163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4737" y="1705527"/>
            <a:ext cx="2233556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45" b="0" i="0">
                <a:solidFill>
                  <a:srgbClr val="B8860B"/>
                </a:solidFill>
                <a:latin typeface="Playfair Display"/>
              </a:rPr>
              <a:t>Run load_to_bronze.py</a:t>
            </a:r>
            <a:endParaRPr sz="154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4648" y="2093215"/>
            <a:ext cx="2183432" cy="342891"/>
          </a:xfrm>
          <a:prstGeom prst="rect">
            <a:avLst/>
          </a:prstGeom>
          <a:noFill/>
        </p:spPr>
        <p:txBody>
          <a:bodyPr wrap="none" lIns="137156" tIns="76198" rIns="137156" bIns="76198">
            <a:spAutoFit/>
          </a:bodyPr>
          <a:lstStyle/>
          <a:p>
            <a:pPr algn="l"/>
            <a:r>
              <a:rPr sz="1145" b="1" i="0">
                <a:solidFill>
                  <a:srgbClr val="A37400"/>
                </a:solidFill>
                <a:latin typeface="Inter 18pt"/>
              </a:rPr>
              <a:t>python load_to_bronze.py</a:t>
            </a:r>
            <a:endParaRPr sz="1145" b="1" i="0">
              <a:solidFill>
                <a:srgbClr val="A37400"/>
              </a:solidFill>
              <a:latin typeface="Inter 18p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4618" y="2591181"/>
            <a:ext cx="2597402" cy="190495"/>
          </a:xfrm>
          <a:prstGeom prst="rect">
            <a:avLst/>
          </a:prstGeom>
          <a:noFill/>
        </p:spPr>
        <p:txBody>
          <a:bodyPr wrap="none" lIns="182875" tIns="0" rIns="0" bIns="0">
            <a:spAutoFit/>
          </a:bodyPr>
          <a:lstStyle/>
          <a:p>
            <a:pPr algn="l"/>
            <a:r>
              <a:rPr sz="1030" b="0" i="0">
                <a:solidFill>
                  <a:srgbClr val="5A5651"/>
                </a:solidFill>
                <a:latin typeface="Microsoft YaHei" panose="020B0503020204020204" charset="-122"/>
              </a:rPr>
              <a:t>Loads files → Bronze STG tables</a:t>
            </a:r>
            <a:endParaRPr sz="1030" b="0" i="0">
              <a:solidFill>
                <a:srgbClr val="5A5651"/>
              </a:solidFill>
              <a:latin typeface="Microsoft YaHei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4618" y="2853261"/>
            <a:ext cx="1993473" cy="190495"/>
          </a:xfrm>
          <a:prstGeom prst="rect">
            <a:avLst/>
          </a:prstGeom>
          <a:noFill/>
        </p:spPr>
        <p:txBody>
          <a:bodyPr wrap="none" lIns="182875" tIns="0" rIns="0" bIns="0">
            <a:spAutoFit/>
          </a:bodyPr>
          <a:lstStyle/>
          <a:p>
            <a:pPr algn="l"/>
            <a:r>
              <a:rPr sz="1170" b="0" i="0">
                <a:solidFill>
                  <a:srgbClr val="5A5651"/>
                </a:solidFill>
                <a:latin typeface="Inter 18pt"/>
              </a:rPr>
              <a:t>Logs to FILE_LOAD_LOG</a:t>
            </a:r>
            <a:endParaRPr sz="117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4618" y="3115341"/>
            <a:ext cx="2795190" cy="190495"/>
          </a:xfrm>
          <a:prstGeom prst="rect">
            <a:avLst/>
          </a:prstGeom>
          <a:noFill/>
        </p:spPr>
        <p:txBody>
          <a:bodyPr wrap="none" lIns="182875" tIns="0" rIns="0" bIns="0">
            <a:spAutoFit/>
          </a:bodyPr>
          <a:lstStyle/>
          <a:p>
            <a:pPr algn="l"/>
            <a:r>
              <a:rPr sz="1170" b="0" i="0">
                <a:solidFill>
                  <a:srgbClr val="5A5651"/>
                </a:solidFill>
                <a:latin typeface="Inter 18pt"/>
              </a:rPr>
              <a:t>Moves files to processed/ or failed/</a:t>
            </a:r>
            <a:endParaRPr sz="117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321" y="3564046"/>
            <a:ext cx="109981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30" b="1" i="0">
                <a:solidFill>
                  <a:srgbClr val="B8860B"/>
                </a:solidFill>
                <a:latin typeface="Playfair Display"/>
              </a:rPr>
              <a:t>3</a:t>
            </a:r>
            <a:endParaRPr sz="163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4737" y="3487848"/>
            <a:ext cx="2464085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45" b="0" i="0">
                <a:solidFill>
                  <a:srgbClr val="B8860B"/>
                </a:solidFill>
                <a:latin typeface="Playfair Display"/>
              </a:rPr>
              <a:t>Run run_stored_procs.py</a:t>
            </a:r>
            <a:endParaRPr sz="154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4648" y="3875536"/>
            <a:ext cx="2340888" cy="342891"/>
          </a:xfrm>
          <a:prstGeom prst="rect">
            <a:avLst/>
          </a:prstGeom>
          <a:noFill/>
        </p:spPr>
        <p:txBody>
          <a:bodyPr wrap="none" lIns="137156" tIns="76198" rIns="137156" bIns="76198">
            <a:spAutoFit/>
          </a:bodyPr>
          <a:lstStyle/>
          <a:p>
            <a:pPr algn="l"/>
            <a:r>
              <a:rPr sz="1145" b="1" i="0">
                <a:solidFill>
                  <a:srgbClr val="A37400"/>
                </a:solidFill>
                <a:latin typeface="Inter 18pt"/>
              </a:rPr>
              <a:t>python run_stored_procs.py</a:t>
            </a:r>
            <a:endParaRPr sz="1145" b="1" i="0">
              <a:solidFill>
                <a:srgbClr val="A37400"/>
              </a:solidFill>
              <a:latin typeface="Inter 18p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4618" y="4373502"/>
            <a:ext cx="2638329" cy="190495"/>
          </a:xfrm>
          <a:prstGeom prst="rect">
            <a:avLst/>
          </a:prstGeom>
          <a:noFill/>
        </p:spPr>
        <p:txBody>
          <a:bodyPr wrap="none" lIns="182875" tIns="0" rIns="0" bIns="0">
            <a:spAutoFit/>
          </a:bodyPr>
          <a:lstStyle/>
          <a:p>
            <a:pPr algn="l"/>
            <a:r>
              <a:rPr sz="1170" b="0" i="0">
                <a:solidFill>
                  <a:srgbClr val="5A5651"/>
                </a:solidFill>
                <a:latin typeface="Inter 18pt"/>
              </a:rPr>
              <a:t>Calls Silver SPs (watermark load)</a:t>
            </a:r>
            <a:endParaRPr sz="117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4618" y="4635582"/>
            <a:ext cx="2554987" cy="190495"/>
          </a:xfrm>
          <a:prstGeom prst="rect">
            <a:avLst/>
          </a:prstGeom>
          <a:noFill/>
        </p:spPr>
        <p:txBody>
          <a:bodyPr wrap="none" lIns="182875" tIns="0" rIns="0" bIns="0">
            <a:spAutoFit/>
          </a:bodyPr>
          <a:lstStyle/>
          <a:p>
            <a:pPr algn="l"/>
            <a:r>
              <a:rPr sz="1170" b="0" i="0">
                <a:solidFill>
                  <a:srgbClr val="5A5651"/>
                </a:solidFill>
                <a:latin typeface="Inter 18pt"/>
              </a:rPr>
              <a:t>Calls Gold SPs (dims then facts)</a:t>
            </a:r>
            <a:endParaRPr sz="117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4618" y="4897662"/>
            <a:ext cx="2375356" cy="190495"/>
          </a:xfrm>
          <a:prstGeom prst="rect">
            <a:avLst/>
          </a:prstGeom>
          <a:noFill/>
        </p:spPr>
        <p:txBody>
          <a:bodyPr wrap="none" lIns="182875" tIns="0" rIns="0" bIns="0">
            <a:spAutoFit/>
          </a:bodyPr>
          <a:lstStyle/>
          <a:p>
            <a:pPr algn="l"/>
            <a:r>
              <a:rPr sz="1170" b="0" i="0">
                <a:solidFill>
                  <a:srgbClr val="5A5651"/>
                </a:solidFill>
                <a:latin typeface="Inter 18pt"/>
              </a:rPr>
              <a:t>Logs to SP_EXECUTION_LOG</a:t>
            </a:r>
            <a:endParaRPr sz="1170" b="0" i="0">
              <a:solidFill>
                <a:srgbClr val="5A5651"/>
              </a:solidFill>
              <a:latin typeface="Inter 18p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3112" y="5346367"/>
            <a:ext cx="120547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30" b="1" i="0">
                <a:solidFill>
                  <a:srgbClr val="B8860B"/>
                </a:solidFill>
                <a:latin typeface="Playfair Display"/>
              </a:rPr>
              <a:t>4</a:t>
            </a:r>
            <a:endParaRPr sz="1630" b="1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4737" y="5270169"/>
            <a:ext cx="1707313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45" b="0" i="0">
                <a:solidFill>
                  <a:srgbClr val="B8860B"/>
                </a:solidFill>
                <a:latin typeface="Playfair Display"/>
              </a:rPr>
              <a:t>Query &amp; Visualise</a:t>
            </a:r>
            <a:endParaRPr sz="1545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4737" y="5627497"/>
            <a:ext cx="7281829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" b="0" i="0">
                <a:solidFill>
                  <a:srgbClr val="5A5651"/>
                </a:solidFill>
                <a:latin typeface="Inter 18pt"/>
              </a:rPr>
              <a:t>Query Gold views in Snowflake or run pythonScripts/analyze_orders to regenerate charts/</a:t>
            </a:r>
            <a:endParaRPr sz="1280" b="0" i="0">
              <a:solidFill>
                <a:srgbClr val="5A5651"/>
              </a:solidFill>
              <a:latin typeface="Inter 18p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792" y="304792"/>
            <a:ext cx="11582110" cy="4762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60" b="0" i="0">
                <a:solidFill>
                  <a:srgbClr val="B8860B"/>
                </a:solidFill>
                <a:latin typeface="Playfair Display"/>
              </a:rPr>
              <a:t>References</a:t>
            </a:r>
            <a:endParaRPr sz="2760" b="0" i="0">
              <a:solidFill>
                <a:srgbClr val="B8860B"/>
              </a:solidFill>
              <a:latin typeface="Playfair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792" y="1085822"/>
            <a:ext cx="1158211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28600" algn="l">
              <a:spcAft>
                <a:spcPts val="1800"/>
              </a:spcAft>
              <a:buNone/>
            </a:pPr>
            <a:r>
              <a:rPr sz="1655" b="0" i="0">
                <a:solidFill>
                  <a:srgbClr val="B8860B"/>
                </a:solidFill>
                <a:latin typeface="Playfair Display"/>
              </a:rPr>
              <a:t>Project Documentation	</a:t>
            </a:r>
            <a:endParaRPr sz="1655" b="0" i="0">
              <a:solidFill>
                <a:srgbClr val="B8860B"/>
              </a:solidFill>
              <a:latin typeface="Playfair Display"/>
            </a:endParaRPr>
          </a:p>
          <a:p>
            <a:pPr marL="274320" indent="-228600" algn="l">
              <a:spcAft>
                <a:spcPts val="1800"/>
              </a:spcAft>
              <a:buNone/>
            </a:pPr>
            <a:r>
              <a:rPr sz="1655" b="0" i="0">
                <a:solidFill>
                  <a:srgbClr val="B8860B"/>
                </a:solidFill>
                <a:latin typeface="Playfair Display"/>
              </a:rPr>
              <a:t>Medallion Architecture Pattern	</a:t>
            </a:r>
            <a:endParaRPr sz="1655" b="0" i="0">
              <a:solidFill>
                <a:srgbClr val="B8860B"/>
              </a:solidFill>
              <a:latin typeface="Playfair Display"/>
            </a:endParaRPr>
          </a:p>
          <a:p>
            <a:pPr marL="274320" indent="-228600" algn="l">
              <a:spcAft>
                <a:spcPts val="1800"/>
              </a:spcAft>
              <a:buNone/>
            </a:pPr>
            <a:r>
              <a:rPr sz="1655" b="0" i="0">
                <a:solidFill>
                  <a:srgbClr val="B8860B"/>
                </a:solidFill>
                <a:latin typeface="Playfair Display"/>
              </a:rPr>
              <a:t>Snowflake Documentation	</a:t>
            </a:r>
            <a:endParaRPr sz="1140" b="0" i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f"/>
  <p:tag name="KSO_WM_UNIT_SUBTYPE" val="g"/>
  <p:tag name="KSO_WM_UNIT_INDEX" val="3"/>
  <p:tag name="KSO_WM_BEAUTIFY_FLAG" val="#wm#"/>
  <p:tag name="KSO_WM_TAG_VERSION" val="3.0"/>
  <p:tag name="KSO_WM_UNIT_PRESET_TEXT" val="公司名"/>
  <p:tag name="KSO_WM_UNIT_ID" val="_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16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4"/>
</p:tagLst>
</file>

<file path=ppt/tags/tag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4"/>
</p:tagLst>
</file>

<file path=ppt/tags/tag1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30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41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5"/>
</p:tagLst>
</file>

<file path=ppt/tags/tag4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4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0"/>
</p:tagLst>
</file>

<file path=ppt/tags/tag47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0"/>
</p:tagLst>
</file>

<file path=ppt/tags/tag4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8"/>
</p:tagLst>
</file>

<file path=ppt/tags/tag5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19"/>
</p:tagLst>
</file>

<file path=ppt/tags/tag5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VALUE" val="153"/>
</p:tagLst>
</file>

<file path=ppt/tags/tag5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19"/>
</p:tagLst>
</file>

<file path=ppt/tags/tag5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VALUE" val="153"/>
</p:tagLst>
</file>

<file path=ppt/tags/tag5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96"/>
</p:tagLst>
</file>

<file path=ppt/tags/tag6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0"/>
</p:tagLst>
</file>

<file path=ppt/tags/tag7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8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132"/>
</p:tagLst>
</file>

<file path=ppt/tags/tag8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0"/>
  <p:tag name="KSO_WM_TEMPLATE_CATEGORY" val="custom"/>
  <p:tag name="KSO_WM_TEMPLATE_INDEX" val="20238132"/>
</p:tagLst>
</file>

<file path=ppt/tags/tag8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TEMPLATE_THUMBS_INDEX" val="1、9"/>
  <p:tag name="KSO_WM_TEMPLATE_SUBCATEGORY" val="29"/>
  <p:tag name="KSO_WM_TEMPLATE_COLOR_TYPE" val="0"/>
  <p:tag name="KSO_WM_TAG_VERSION" val="3.0"/>
  <p:tag name="KSO_WM_BEAUTIFY_FLAG" val="#wm#"/>
  <p:tag name="KSO_WM_TEMPLATE_INDEX" val="20238132"/>
  <p:tag name="KSO_WM_TEMPLATE_CATEGORY" val="custom"/>
  <p:tag name="KSO_WM_TEMPLATE_MASTER_TYPE" val="0"/>
  <p:tag name="KSO_WM_SPECIAL_SOURCE" val="bdnull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64"/>
  <p:tag name="KSO_WM_UNIT_ID" val="custom20238264_1*a*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UNIT_VALUE" val="1677*16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64_1*d*1"/>
  <p:tag name="KSO_WM_TEMPLATE_CATEGORY" val="custom"/>
  <p:tag name="KSO_WM_TEMPLATE_INDEX" val="20238264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SHADOW_SCHEMECOLOR_INDEX" val="5"/>
  <p:tag name="KSO_WM_UNIT_USESOURCEFORMAT_APPLY" val="1"/>
</p:tagLst>
</file>

<file path=ppt/tags/tag94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2000787401575,&quot;left&quot;:52.725039370078775,&quot;top&quot;:116.02503937007873,&quot;width&quot;:36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20_4*l_h_a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2000787401575,&quot;left&quot;:52.725039370078775,&quot;top&quot;:116.02503937007873,&quot;width&quot;:362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0_4*l_h_i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96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2000787401575,&quot;left&quot;:52.725039370078775,&quot;top&quot;:116.02503937007873,&quot;width&quot;:36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20_4*l_h_a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2000787401575,&quot;left&quot;:52.725039370078775,&quot;top&quot;:116.02503937007873,&quot;width&quot;:362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0_4*l_h_i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98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2000787401575,&quot;left&quot;:52.725039370078775,&quot;top&quot;:116.02503937007873,&quot;width&quot;:36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20_4*l_h_a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2000787401575,&quot;left&quot;:52.725039370078775,&quot;top&quot;:116.02503937007873,&quot;width&quot;:362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20_4*l_h_i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00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2000787401575,&quot;left&quot;:52.725039370078775,&quot;top&quot;:116.02503937007873,&quot;width&quot;:36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7920_4*l_h_a*1_4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2000787401575,&quot;left&quot;:52.725039370078775,&quot;top&quot;:116.02503937007873,&quot;width&quot;:362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7920_4*l_h_i*1_4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02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2000787401575,&quot;left&quot;:52.725039370078775,&quot;top&quot;:116.02503937007873,&quot;width&quot;:36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UNIT_ID" val="diagram20237920_4*l_h_a*1_5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2000787401575,&quot;left&quot;:52.725039370078775,&quot;top&quot;:116.02503937007873,&quot;width&quot;:362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7920_4*l_h_i*1_5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63_1*i*1"/>
  <p:tag name="KSO_WM_TEMPLATE_CATEGORY" val="custom"/>
  <p:tag name="KSO_WM_TEMPLATE_INDEX" val="20238363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363_1*i*2"/>
  <p:tag name="KSO_WM_TEMPLATE_CATEGORY" val="custom"/>
  <p:tag name="KSO_WM_TEMPLATE_INDEX" val="20238363"/>
  <p:tag name="KSO_WM_UNIT_LAYERLEVEL" val="1"/>
  <p:tag name="KSO_WM_TAG_VERSION" val="3.0"/>
  <p:tag name="KSO_WM_BEAUTIFY_FLAG" val="#wm#"/>
  <p:tag name="KSO_WM_UNIT_FILL_FORE_SCHEMECOLOR_INDEX" val="14"/>
  <p:tag name="KSO_WM_UNIT_TEXT_FILL_FORE_SCHEMECOLOR_INDEX" val="13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63"/>
  <p:tag name="KSO_WM_UNIT_ID" val="custom20238363_1*a*1"/>
  <p:tag name="KSO_WM_UNIT_PRESET_TEXT" val="The title goes here"/>
  <p:tag name="KSO_WM_UNIT_TEXT_FILL_FORE_SCHEMECOLOR_INDEX" val="2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71_1*l_h_i*1_1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08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71_1*l_h_a*1_1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371_1*l_h_i*1_1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110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71_1*l_h_i*1_2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371_1*l_h_i*1_2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112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371_1*l_h_i*1_3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371_1*l_h_i*1_3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371_1*l_h_i*1_4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371_1*l_h_i*1_4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371_1*l_h_i*1_5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371_1*l_h_i*1_5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5"/>
  <p:tag name="KSO_WM_UNIT_TEXT_FILL_FORE_SCHEMECOLOR_INDEX" val="1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diagram20238371_1*l_h_i*1_6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09283447265625,&quot;left&quot;:46.85,&quot;top&quot;:134.92326780304194,&quot;width&quot;:859.0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8371_1*l_h_i*1_6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6"/>
  <p:tag name="KSO_WM_UNIT_TEXT_FILL_FORE_SCHEMECOLOR_INDEX" val="1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132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132"/>
  <p:tag name="KSO_WM_TEMPLATE_CATEGORY" val="custom"/>
  <p:tag name="KSO_WM_UNIT_ISCONTENTSTITLE" val="0"/>
  <p:tag name="KSO_WM_UNIT_PRESET_TEXT" val="THANKS"/>
</p:tagLst>
</file>

<file path=ppt/tags/tag121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132"/>
  <p:tag name="KSO_WM_TEMPLATE_CATEGORY" val="custom"/>
  <p:tag name="KSO_WM_SLIDE_INDEX" val="9"/>
  <p:tag name="KSO_WM_SLIDE_ID" val="custom20238132_9"/>
  <p:tag name="KSO_WM_TEMPLATE_MASTER_TYPE" val="0"/>
  <p:tag name="KSO_WM_SLIDE_LAYOUT" val="a"/>
  <p:tag name="KSO_WM_SLIDE_LAYOUT_CNT" val="1"/>
  <p:tag name="KSO_WM_SPECIAL_SOURCE" val="bdnul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0318-1">
      <a:dk1>
        <a:srgbClr val="333333"/>
      </a:dk1>
      <a:lt1>
        <a:sysClr val="window" lastClr="FFFFFF"/>
      </a:lt1>
      <a:dk2>
        <a:srgbClr val="0B1427"/>
      </a:dk2>
      <a:lt2>
        <a:srgbClr val="FFE6D0"/>
      </a:lt2>
      <a:accent1>
        <a:srgbClr val="FFB06A"/>
      </a:accent1>
      <a:accent2>
        <a:srgbClr val="F98069"/>
      </a:accent2>
      <a:accent3>
        <a:srgbClr val="EA5E4B"/>
      </a:accent3>
      <a:accent4>
        <a:srgbClr val="C5CFF2"/>
      </a:accent4>
      <a:accent5>
        <a:srgbClr val="758FCE"/>
      </a:accent5>
      <a:accent6>
        <a:srgbClr val="5177CB"/>
      </a:accent6>
      <a:hlink>
        <a:srgbClr val="0026E5"/>
      </a:hlink>
      <a:folHlink>
        <a:srgbClr val="7E1FAD"/>
      </a:folHlink>
    </a:clrScheme>
    <a:fontScheme name="简约风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 fontScale="92500" lnSpcReduction="20000"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5161</Words>
  <Application>WPS Presentation</Application>
  <PresentationFormat>Widescreen</PresentationFormat>
  <Paragraphs>397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2" baseType="lpstr">
      <vt:lpstr>Arial</vt:lpstr>
      <vt:lpstr>SimSun</vt:lpstr>
      <vt:lpstr>Wingdings</vt:lpstr>
      <vt:lpstr>Arial</vt:lpstr>
      <vt:lpstr>Playfair Display</vt:lpstr>
      <vt:lpstr>Inter 18pt</vt:lpstr>
      <vt:lpstr>Segoe Print</vt:lpstr>
      <vt:lpstr>Inter</vt:lpstr>
      <vt:lpstr>Times New Roman</vt:lpstr>
      <vt:lpstr>Times New Roman</vt:lpstr>
      <vt:lpstr>Microsoft YaHei</vt:lpstr>
      <vt:lpstr>Georgia</vt:lpstr>
      <vt:lpstr>Calibri</vt:lpstr>
      <vt:lpstr>Arial Unicode MS</vt:lpstr>
      <vt:lpstr>Calibri</vt:lpstr>
      <vt:lpstr>江城圆体 400W</vt:lpstr>
      <vt:lpstr>Lato</vt:lpstr>
      <vt:lpstr>Manrope ExtraBold</vt:lpstr>
      <vt:lpstr>Office Theme</vt:lpstr>
      <vt:lpstr>1_Office Theme</vt:lpstr>
      <vt:lpstr>PowerPoint 演示文稿</vt:lpstr>
      <vt:lpstr>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Kundu, Sudhin</dc:creator>
  <dc:description>generated using python-pptx</dc:description>
  <cp:lastModifiedBy>Pritam Bose</cp:lastModifiedBy>
  <cp:revision>5</cp:revision>
  <dcterms:created xsi:type="dcterms:W3CDTF">2026-05-07T14:51:00Z</dcterms:created>
  <dcterms:modified xsi:type="dcterms:W3CDTF">2026-05-08T12:05:07Z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6A02A355BE1C4589B00048B847B63C3D_13</vt:lpwstr>
  </property>
  <property fmtid="{D5CDD505-2E9C-101B-9397-08002B2CF9AE}" pid="3" name="KSOProductBuildVer">
    <vt:lpwstr>1033-12.2.0.23196</vt:lpwstr>
  </property>
</Properties>
</file>